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62" r:id="rId7"/>
    <p:sldId id="261" r:id="rId6"/>
    <p:sldId id="269" r:id="rId19"/>
    <p:sldId id="263" r:id="rId8"/>
    <p:sldId id="271" r:id="rId21"/>
    <p:sldId id="270" r:id="rId20"/>
    <p:sldId id="264" r:id="rId9"/>
    <p:sldId id="265" r:id="rId10"/>
    <p:sldId id="266" r:id="rId11"/>
    <p:sldId id="272" r:id="rId22"/>
    <p:sldId id="273" r:id="rId23"/>
    <p:sldId id="274" r:id="rId24"/>
    <p:sldId id="275" r:id="rId25"/>
    <p:sldId id="276" r:id="rId26"/>
    <p:sldId id="267" r:id="rId12"/>
    <p:sldId id="277" r:id="rId27"/>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MDP" id="{6EBB974E-EEEE-D71C-CD58-E7588F5A99BD}">
          <p14:sldIdLst>
            <p14:sldId id="256"/>
            <p14:sldId id="257"/>
            <p14:sldId id="258"/>
          </p14:sldIdLst>
        </p14:section>
        <p14:section name="Algorithms and results" id="{0D629FF2-8C30-38FD-D0BD-76C88AE21564}">
          <p14:sldIdLst>
            <p14:sldId id="260"/>
            <p14:sldId id="261"/>
            <p14:sldId id="262"/>
            <p14:sldId id="263"/>
          </p14:sldIdLst>
        </p14:section>
        <p14:section name="Failure analysis and experiments" id="{561E9C66-9A4D-8CF0-7D7D-A724F2569BBC}">
          <p14:sldIdLst>
            <p14:sldId id="264"/>
            <p14:sldId id="265"/>
            <p14:sldId id="266"/>
          </p14:sldIdLst>
        </p14:section>
        <p14:section name="Demo and conclusion" id="{10C083DC-CEF1-D286-28C6-042C83149F2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10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859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robot on a grid delivers several parcels and learns the pickup and delivery order by itself. The environment is a custom gymnasium environment following the Taxi logic. Three tabular algorithms are compared, Q-learning, SARSA and Monte Carlo ES, on four maps of increasing difficulty. No neural network is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only knows its position and the parcel statuses. The −1 step penalty pushes the agent toward short routes; +20 per delivered order is the per-order reward; −10 punishes wrong actions; −30 only exists in the deadline maps S3 and S4.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adds one new mechanic. S1: two parcels that can be carried together. S2: three parcels but only one at a time, so the order matters. S3: parcel C must be delivered within 20 steps. S4: four parcels, a booster cell that allows carrying two parcels for one trip, and parcel D with a 22-step deadline. Reachable states grow from 186 to 15,612 and the optimal route from 22 to 67 steps; the optimal routes come from Value Iteration.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keep a Q table and choose actions epsilon-greedily; they differ only in the update target. Q-learning bootstraps with the best next action, so it learns Q* even while exploring. SARSA bootstraps with the action it will actually take, so it learns the value of its own epsilon-greedy policy and only matches Q* when epsilon is close to zero. Monte Carlo ES waits for the whole episode and uses the real return; with a greedy policy in a deterministic world that return is exact. Every training episode starts from a random reachable state with a random first 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the share of start cells from which the greedy policy reaches the optimal return of Value Iteration, averaged over 5 seeds. All 60 runs end at 100%. Q-learning gets there first on three of the four maps; Monte Carlo ES is slightly faster on S3; SARSA is the slowest and still dips after reaching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maps, same number of episodes, only the settings change. Old settings: random start cell, linear epsilon decay to 0.05, alpha 0.5, Monte Carlo with 1/N averaging. With them SARSA and Monte Carlo almost never solve S3 and S4. Exploring starts are the biggest change: the deadline clock and the booster status multiply the states, and the robot rarely reaches most of them when it always starts with tau = 0. Old Q-learning was optimal from S in 5/5 seeds on S3, but correct from only 20% of the start cells.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is one phase: a combination of parcel statuses and booster status. Grey arrows show the action the policy would choose in that cell; P and D mean Pickup and Drop. The robot learns two trade-offs: deliver the far deadline parcel D first, and accept a detour to the booster cell so that A and B travel together. The black line is when it carries two parcels.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mean error between the learned Q table and Q* from Value Iteration, on a log scale, for each level: it reaches zero for Q-learning and Monte Carlo ES and about 0.05 for SARSA on S4. Exploring starts give every state direct updates; SARSA needs epsilon close to zero; Monte Carlo ES works with alpha = 1 because each return of the greedy policy is exact.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being late costs nothing, B then A then C is 4 steps shorter, so the agent stops prioritising parcel C and accepts being late. With a 45-step deadline, delivering C last is still on time, so it also switches to B-A-C. The reachable states grow from 4,027 to 14,558, and Q-learning is still optimal in 5/5 seeds.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configurations learn the optimal route in 5/5 seeds. With the booster cell the robot still delivers the deadline parcel first, then detours to the booster and carries A and B together. Without it, it needs four separate trips. The circled numbers give the order of the pickup and drop events.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demo.py during the talk: it loads the learned Q table from results/, runs the greedy policy from cell S and prints every step with its action, reward and event. On S4 the robot finishes at step 67 with return 13. Add --config to choose another map and --algo sarsa or mc to see the other algorithms. colab_train.ipynb runs the whole pipeline on Google Colab.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findings, then the limitations. Future work: a stochastic version of the environment (wheel slip) to see whether the ranking changes, Expected SARSA or Q(lambda), and function approximation so one model can serve several maps.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end at 100%, so the comparison is about speed, stability and robustness. Q-learning is the fastest and most stable, and the least sensitive to settings. Monte Carlo ES is slower at the start but exact once converged; it depends completely on exploring starts. SARSA needs about three times the episodes of Q-learning on S4 and keeps fluctuating, because its target depends on the sampled next action. SARSA's usual advantage, safer behaviour while exploring, does not show here because the maps have no dangerous cells.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coloured by the learned value V(s), the largest Q value of that state, when the robot starts there with every parcel waiting. Darker means a higher expected return. Values rise toward the first parcel to collect. The value at S is below the optimal return because the discount factor 0.99 makes a reward collected later worth less.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heatmap for four of the nine phases of the S4 route; the report shows all nine. Within a phase the colour grows toward the current target, which is why the greedy robot follows the darker cells. In phase 2 the robot carries D with 15 of its 22 steps used: from cells far from D's drop cell the deadline can no longer be met, so the value drops below zero. In phase 8 the robot carries A and B together, so almost every cell is dark.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old settings the robot already goes wrong from the start cell S. SARSA never finishes in 3 of 5 seeds on S1 and S4, Monte Carlo in 4 of 5 seeds on S4: the robot stands on a cell and keeps walking into a wall or the edge of the map, because that blocked move has a slightly higher Q value than the right action, for example Drop. The state does not change, so it repeats the move until max_steps. On S3 both deliver parcel C late in all 5 seeds.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only starts the robot at an empty cell with every parcel waiting. Here the robot is put in every reachable state: carrying parcels, after some deliveries, with the deadline clock running or the booster on. The grey bars are the old settings: wrong in up to 91 percent of the states, with loops, late deliveries and illegal actions. With the new settings Q-learning and Monte Carlo ES are right in every state in all 5 seeds. SARSA is slightly off in a few hundred states of S4; twice as many episodes do not help, a smaller final step size halves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costliest SARSA state on S4, state code 643: the robot is in the top-left corner, carries C and has the booster on. SARSA's first move is still right; it turns wrong three steps later at state 17419, on C's drop cell, where it drops C although going Down is optimal. In the true values the two actions differ by only 0.04, and SARSA's values there are off by 0.12 to 0.24, so the order flips. Dropping C ends the booster trip, so A, B and D are carried one by one: 61 steps. The optimal route first fetches A while still holding C and then carries A and B together: 55 steps. Every SARSA mistake is a longer route like this one, at most 6 steps, never a loop. Q-learning and Monte Carlo ES have no wrong state at all. A smaller final step size for SARSA halves the mistakes on S4.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code is the integer index of a state, the row of the Q table, from encode in delivery_env.py. For every wrong state the script follows the learned route to the first state where the greedy action is not optimal. The 301 wrong states of SARSA seed 0 on S4 come from only a few dozen such states, all on two cells: the pickup cell of C, carrying B and C with the booster on, where SARSA goes Down instead of Up, and the drop cell of C, where it drops C instead of going Down. The true values of the two actions differ by a few hundredths, so SARSA's small errors flip them. The CSV file lists every wrong state.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state is a tuple: the robot's cell, the status of each parcel, the deadline clock and the booster. encode packs it into one integer, the state code, which is simply the row of the Q table. Parcel statuses are read as a base-3 number, then each component is multiplied in, and decode undoes it with divmod. For example state 17419 decodes to row 0, column 3, carrying C, clock 10, booster on: that is where SARSA drops C although going down is optimal. The CSV file lists every wrong state by this code.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desktop app in app.py. On the left you pick the map, the algorithm and every hyperparameter and start training. Training runs in a separate process with the same numba code, so the map and the learning curves update live and you can pause, stop or slow it down to one episode per update; with the same seed it gives exactly the Q table of the experiments. In the middle you can drive the robot yourself or let the agent move, click any cell or type a state code. The screenshot shows SARSA on S4 after training, at state 17419: the red cell and the warning on the right show its wrong decision, Drop instead of Down, with a gap of only 0.04 in Q*.</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234440"/>
            <a:ext cx="6766560" cy="457200"/>
          </a:xfrm>
          <a:prstGeom prst="rect">
            <a:avLst/>
          </a:prstGeom>
          <a:noFill/>
          <a:ln/>
        </p:spPr>
        <p:txBody>
          <a:bodyPr wrap="square" rtlCol="0"/>
          <a:lstStyle>
            <a:lvl1pPr marL="0" indent="0">
              <a:buNone/>
              <a:defRPr lang="en-US" sz="1600" b="1" kern="0" spc="300" dirty="0">
                <a:solidFill>
                  <a:schemeClr val="accent5"/>
                </a:solidFill>
              </a:defRPr>
            </a:lvl1pPr>
          </a:lstStyle>
          <a:p>
            <a:pPr marL="0" indent="0">
              <a:buNone/>
            </a:pPr>
            <a:endParaRPr lang="en-US" sz="1600" dirty="0"/>
          </a:p>
        </p:txBody>
      </p:sp>
      <p:sp>
        <p:nvSpPr>
          <p:cNvPr id="3" name="Text 0"/>
          <p:cNvSpPr>
            <a:spLocks noGrp="1"/>
          </p:cNvSpPr>
          <p:nvPr>
            <p:ph type="title" idx="101" hasCustomPrompt="1"/>
          </p:nvPr>
        </p:nvSpPr>
        <p:spPr>
          <a:xfrm>
            <a:off x="731520" y="1783080"/>
            <a:ext cx="67665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0"/>
          <p:cNvSpPr>
            <a:spLocks noGrp="1"/>
          </p:cNvSpPr>
          <p:nvPr>
            <p:ph type="body" idx="102" hasCustomPrompt="1"/>
          </p:nvPr>
        </p:nvSpPr>
        <p:spPr>
          <a:xfrm>
            <a:off x="731520" y="3108960"/>
            <a:ext cx="6583680" cy="1097280"/>
          </a:xfrm>
          <a:prstGeom prst="rect">
            <a:avLst/>
          </a:prstGeom>
          <a:noFill/>
          <a:ln/>
        </p:spPr>
        <p:txBody>
          <a:bodyPr wrap="square" rtlCol="0"/>
          <a:lstStyle>
            <a:lvl1pPr marL="0" indent="0">
              <a:buNone/>
              <a:defRPr lang="en-US" sz="2200" dirty="0">
                <a:solidFill>
                  <a:schemeClr val="bg2"/>
                </a:solidFill>
              </a:defRPr>
            </a:lvl1pPr>
          </a:lstStyle>
          <a:p>
            <a:pPr marL="0" indent="0">
              <a:buNone/>
            </a:pPr>
            <a:endParaRPr lang="en-US" sz="2200" dirty="0"/>
          </a:p>
        </p:txBody>
      </p:sp>
      <p:sp>
        <p:nvSpPr>
          <p:cNvPr id="5" name="Text 0"/>
          <p:cNvSpPr>
            <a:spLocks noGrp="1"/>
          </p:cNvSpPr>
          <p:nvPr>
            <p:ph type="body" idx="103" hasCustomPrompt="1"/>
          </p:nvPr>
        </p:nvSpPr>
        <p:spPr>
          <a:xfrm>
            <a:off x="731520" y="4572000"/>
            <a:ext cx="6583680" cy="109728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Topic 13 · Multi-Delivery Robot</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chemeClr val="accent5"/>
                </a:solidFill>
              </a:rPr>
              <a:t>Topic 13 · Multi-Delivery Robot</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FB8EE"/>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upd_slide1_cover-route.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upd_slide3_maps.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upd_slide5_learning-curves.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upd_slide6_final-returns.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upd_slide7_policy-s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upd_slide8_episode-length.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upd_slide9_reward-deadline.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upd_slide10_env-booster.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upd_slide11_demo-gif.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upd_slide14_policy-s4.png"/><Relationship Id="rId1"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3" Type="http://schemas.openxmlformats.org/officeDocument/2006/relationships/image" Target="../media/upd_slide15_reward-deadline.png"/><Relationship Id="rId1"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upd_slide16_reward-deadline.png"/><Relationship Id="rId1"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upd_slide17_reward-deadline.png"/><Relationship Id="rId1"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upd_slide18_learning-curves.png"/><Relationship Id="rId1"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upd_slide21_demo-gif.png"/><Relationship Id="rId1" Type="http://schemas.openxmlformats.org/officeDocument/2006/relationships/slideLayout" Target="../slideLayouts/slideLayout3.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234440"/>
            <a:ext cx="6766560" cy="457200"/>
          </a:xfrm>
          <a:prstGeom prst="rect">
            <a:avLst/>
          </a:prstGeom>
          <a:noFill/>
          <a:ln/>
        </p:spPr>
        <p:txBody>
          <a:bodyPr wrap="square" lIns="0" tIns="0" rIns="0" bIns="0" rtlCol="0"/>
          <a:lstStyle/>
          <a:p>
            <a:pPr marL="0" indent="0">
              <a:buNone/>
            </a:pPr>
            <a:r>
              <a:rPr lang="en-US" sz="1600" b="1" kern="0" spc="300" dirty="0">
                <a:solidFill>
                  <a:schemeClr val="accent5"/>
                </a:solidFill>
              </a:rPr>
              <a:t>TOPIC 13 · REINFORCEMENT LEARNING</a:t>
            </a:r>
            <a:endParaRPr lang="en-US" sz="1600" dirty="0"/>
          </a:p>
        </p:txBody>
      </p:sp>
      <p:sp>
        <p:nvSpPr>
          <p:cNvPr id="3" name="Text 0"/>
          <p:cNvSpPr>
            <a:spLocks noGrp="1"/>
          </p:cNvSpPr>
          <p:nvPr>
            <p:ph type="title" idx="101" hasCustomPrompt="1"/>
          </p:nvPr>
        </p:nvSpPr>
        <p:spPr>
          <a:xfrm>
            <a:off x="731520" y="1783080"/>
            <a:ext cx="6766560" cy="1188720"/>
          </a:xfrm>
          <a:prstGeom prst="rect">
            <a:avLst/>
          </a:prstGeom>
          <a:noFill/>
          <a:ln/>
        </p:spPr>
        <p:txBody>
          <a:bodyPr wrap="square" lIns="0" tIns="0" rIns="0" bIns="0" rtlCol="0" anchor="ctr"/>
          <a:lstStyle/>
          <a:p>
            <a:pPr marL="0" indent="0" algn="l">
              <a:buNone/>
            </a:pPr>
            <a:r>
              <a:rPr lang="en-US" sz="5400" b="1" dirty="0">
                <a:solidFill>
                  <a:schemeClr val="bg1"/>
                </a:solidFill>
              </a:rPr>
              <a:t>Multi-Delivery Robot</a:t>
            </a:r>
            <a:endParaRPr lang="en-US" sz="5400" dirty="0"/>
          </a:p>
        </p:txBody>
      </p:sp>
      <p:sp>
        <p:nvSpPr>
          <p:cNvPr id="4" name="Text 0"/>
          <p:cNvSpPr>
            <a:spLocks noGrp="1"/>
          </p:cNvSpPr>
          <p:nvPr>
            <p:ph type="body" idx="102" hasCustomPrompt="1"/>
          </p:nvPr>
        </p:nvSpPr>
        <p:spPr>
          <a:xfrm>
            <a:off x="731520" y="3108960"/>
            <a:ext cx="6583680" cy="1097280"/>
          </a:xfrm>
          <a:prstGeom prst="rect">
            <a:avLst/>
          </a:prstGeom>
          <a:noFill/>
          <a:ln/>
        </p:spPr>
        <p:txBody>
          <a:bodyPr wrap="square" lIns="0" tIns="0" rIns="0" bIns="0" rtlCol="0" anchor="t"/>
          <a:lstStyle/>
          <a:p>
            <a:pPr marL="0" indent="0">
              <a:buNone/>
            </a:pPr>
            <a:r>
              <a:rPr lang="en-US" sz="2200" dirty="0">
                <a:solidFill>
                  <a:schemeClr val="bg2"/>
                </a:solidFill>
              </a:rPr>
              <a:t>A robot that learns its own pickup and delivery order with tabular Q-learning, SARSA and Monte Carlo</a:t>
            </a:r>
            <a:endParaRPr lang="en-US" sz="2200" dirty="0"/>
          </a:p>
        </p:txBody>
      </p:sp>
      <p:sp>
        <p:nvSpPr>
          <p:cNvPr id="5" name="Text 0"/>
          <p:cNvSpPr>
            <a:spLocks noGrp="1"/>
          </p:cNvSpPr>
          <p:nvPr>
            <p:ph type="body" idx="103" hasCustomPrompt="1"/>
          </p:nvPr>
        </p:nvSpPr>
        <p:spPr>
          <a:xfrm>
            <a:off x="731520" y="4572000"/>
            <a:ext cx="6583680" cy="1097280"/>
          </a:xfrm>
          <a:prstGeom prst="rect">
            <a:avLst/>
          </a:prstGeom>
          <a:noFill/>
          <a:ln/>
        </p:spPr>
        <p:txBody>
          <a:bodyPr wrap="square" lIns="0" tIns="0" rIns="0" bIns="0" rtlCol="0" anchor="t"/>
          <a:lstStyle/>
          <a:p>
            <a:pPr marL="0" indent="0">
              <a:spcAft>
                <a:spcPts val="400"/>
              </a:spcAft>
              <a:buNone/>
            </a:pPr>
            <a:r>
              <a:rPr lang="en-US" sz="1600" dirty="0">
                <a:solidFill>
                  <a:schemeClr val="accent5"/>
                </a:solidFill>
              </a:rPr>
              <a:t>Student: Nguyen Quang Trung</a:t>
            </a:r>
            <a:endParaRPr lang="en-US" sz="1600" dirty="0"/>
          </a:p>
          <a:p>
            <a:pPr marL="0" indent="0">
              <a:spcAft>
                <a:spcPts val="400"/>
              </a:spcAft>
              <a:buNone/>
            </a:pPr>
            <a:r>
              <a:rPr lang="en-US" sz="1600" dirty="0">
                <a:solidFill>
                  <a:schemeClr val="accent5"/>
                </a:solidFill>
              </a:rPr>
              <a:t>Student ID: 22011211</a:t>
            </a:r>
            <a:endParaRPr lang="en-US" sz="1600" dirty="0"/>
          </a:p>
          <a:p>
            <a:pPr marL="0" indent="0">
              <a:spcAft>
                <a:spcPts val="400"/>
              </a:spcAft>
              <a:buNone/>
            </a:pPr>
            <a:r>
              <a:rPr lang="en-US" sz="1600" dirty="0">
                <a:solidFill>
                  <a:schemeClr val="accent5"/>
                </a:solidFill>
              </a:rPr>
              <a:t>Hanoi, October 2026</a:t>
            </a:r>
            <a:endParaRPr lang="en-US" sz="1600" dirty="0"/>
          </a:p>
        </p:txBody>
      </p:sp>
      <p:sp>
        <p:nvSpPr>
          <p:cNvPr id="6" name="cover-card"/>
          <p:cNvSpPr/>
          <p:nvPr/>
        </p:nvSpPr>
        <p:spPr>
          <a:xfrm>
            <a:off x="7818120" y="960120"/>
            <a:ext cx="3840480" cy="4754880"/>
          </a:xfrm>
          <a:prstGeom prst="roundRect">
            <a:avLst>
              <a:gd name="adj" fmla="val 2857"/>
            </a:avLst>
          </a:prstGeom>
          <a:solidFill>
            <a:schemeClr val="bg1"/>
          </a:solidFill>
          <a:ln w="12700">
            <a:solidFill>
              <a:schemeClr val="bg1"/>
            </a:solidFill>
            <a:prstDash val="solid"/>
          </a:ln>
        </p:spPr>
        <p:txBody>
          <a:bodyPr/>
          <a:lstStyle/>
          <a:p>
            <a:endParaRPr lang="en-US"/>
          </a:p>
        </p:txBody>
      </p:sp>
      <p:pic>
        <p:nvPicPr>
          <p:cNvPr id="7" name="cover-route" descr="Route learned on map S4: the robot visits the booster cell, carries two parcels at once and delivers C, B, then A"/>
          <p:cNvPicPr>
            <a:picLocks noChangeAspect="1"/>
          </p:cNvPicPr>
          <p:nvPr/>
        </p:nvPicPr>
        <p:blipFill>
          <a:blip r:embed="rId3"/>
          <a:stretch>
            <a:fillRect/>
          </a:stretch>
        </p:blipFill>
        <p:spPr>
          <a:xfrm>
            <a:off x="8003409" y="1142999"/>
            <a:ext cx="3469900" cy="3474720"/>
          </a:xfrm>
          <a:prstGeom prst="rect">
            <a:avLst/>
          </a:prstGeom>
        </p:spPr>
      </p:pic>
      <p:sp>
        <p:nvSpPr>
          <p:cNvPr id="8" name="cover-caption"/>
          <p:cNvSpPr txBox="1"/>
          <p:nvPr/>
        </p:nvSpPr>
        <p:spPr>
          <a:xfrm>
            <a:off x="8001000" y="4754880"/>
            <a:ext cx="3474720" cy="731520"/>
          </a:xfrm>
          <a:prstGeom prst="rect">
            <a:avLst/>
          </a:prstGeom>
          <a:noFill/>
          <a:ln/>
        </p:spPr>
        <p:txBody>
          <a:bodyPr wrap="square" lIns="0" tIns="0" rIns="0" bIns="0" rtlCol="0" anchor="t"/>
          <a:lstStyle/>
          <a:p>
            <a:pPr marL="0" indent="0">
              <a:buNone/>
            </a:pPr>
            <a:r>
              <a:rPr lang="en-US" sz="1300" dirty="0">
                <a:solidFill>
                  <a:schemeClr val="tx2"/>
                </a:solidFill>
              </a:rPr>
              <a:t>Route learned on S4: 67 steps, return 13 (optimal)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The task: deliver parcels in a learned order</a:t>
            </a:r>
            <a:endParaRPr lang="en-US" sz="3400" dirty="0"/>
          </a:p>
        </p:txBody>
      </p:sp>
      <p:sp>
        <p:nvSpPr>
          <p:cNvPr id="3" name="rules-card"/>
          <p:cNvSpPr/>
          <p:nvPr/>
        </p:nvSpPr>
        <p:spPr>
          <a:xfrm>
            <a:off x="548640" y="1325880"/>
            <a:ext cx="5394960" cy="4206240"/>
          </a:xfrm>
          <a:prstGeom prst="roundRect">
            <a:avLst>
              <a:gd name="adj" fmla="val 2609"/>
            </a:avLst>
          </a:prstGeom>
          <a:solidFill>
            <a:schemeClr val="bg2"/>
          </a:solidFill>
          <a:ln w="12700">
            <a:solidFill>
              <a:schemeClr val="bg2"/>
            </a:solidFill>
            <a:prstDash val="solid"/>
          </a:ln>
        </p:spPr>
        <p:txBody>
          <a:bodyPr/>
          <a:lstStyle/>
          <a:p>
            <a:endParaRPr lang="en-US"/>
          </a:p>
        </p:txBody>
      </p:sp>
      <p:sp>
        <p:nvSpPr>
          <p:cNvPr id="4" name="rules-head"/>
          <p:cNvSpPr txBox="1"/>
          <p:nvPr/>
        </p:nvSpPr>
        <p:spPr>
          <a:xfrm>
            <a:off x="868680" y="1600200"/>
            <a:ext cx="4754880" cy="457200"/>
          </a:xfrm>
          <a:prstGeom prst="rect">
            <a:avLst/>
          </a:prstGeom>
          <a:noFill/>
          <a:ln/>
        </p:spPr>
        <p:txBody>
          <a:bodyPr wrap="square" lIns="0" tIns="0" rIns="0" bIns="0" rtlCol="0" anchor="t"/>
          <a:lstStyle/>
          <a:p>
            <a:pPr marL="0" indent="0">
              <a:buNone/>
            </a:pPr>
            <a:r>
              <a:rPr lang="en-US" sz="2200" b="1" dirty="0">
                <a:solidFill>
                  <a:schemeClr val="tx1"/>
                </a:solidFill>
              </a:rPr>
              <a:t>Rules</a:t>
            </a:r>
            <a:endParaRPr lang="en-US" sz="2200" dirty="0"/>
          </a:p>
        </p:txBody>
      </p:sp>
      <p:sp>
        <p:nvSpPr>
          <p:cNvPr id="5" name="rules-list"/>
          <p:cNvSpPr txBox="1"/>
          <p:nvPr/>
        </p:nvSpPr>
        <p:spPr>
          <a:xfrm>
            <a:off x="868680" y="2240280"/>
            <a:ext cx="4754880" cy="31089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2"/>
                </a:solidFill>
              </a:rPr>
              <a:t>Grid of square cells with walls; the robot starts at cell S</a:t>
            </a:r>
            <a:endParaRPr lang="en-US" sz="1800" dirty="0"/>
          </a:p>
          <a:p>
            <a:pPr marL="342900" indent="-342900">
              <a:spcAft>
                <a:spcPts val="1600"/>
              </a:spcAft>
              <a:buSzPct val="100000"/>
              <a:buChar char="•"/>
            </a:pPr>
            <a:r>
              <a:rPr lang="en-US" sz="1800" dirty="0">
                <a:solidFill>
                  <a:schemeClr val="tx2"/>
                </a:solidFill>
              </a:rPr>
              <a:t>Each parcel has its own pickup cell and drop cell</a:t>
            </a:r>
            <a:endParaRPr lang="en-US" sz="1800" dirty="0"/>
          </a:p>
          <a:p>
            <a:pPr marL="342900" indent="-342900">
              <a:spcAft>
                <a:spcPts val="1600"/>
              </a:spcAft>
              <a:buSzPct val="100000"/>
              <a:buChar char="•"/>
            </a:pPr>
            <a:r>
              <a:rPr lang="en-US" sz="1800" dirty="0">
                <a:solidFill>
                  <a:schemeClr val="tx2"/>
                </a:solidFill>
              </a:rPr>
              <a:t>6 actions: Up, Down, Left, Right, Pickup, Drop</a:t>
            </a:r>
            <a:endParaRPr lang="en-US" sz="1800" dirty="0"/>
          </a:p>
          <a:p>
            <a:pPr marL="342900" indent="-342900">
              <a:spcAft>
                <a:spcPts val="1600"/>
              </a:spcAft>
              <a:buSzPct val="100000"/>
              <a:buChar char="•"/>
            </a:pPr>
            <a:r>
              <a:rPr lang="en-US" sz="1800" dirty="0">
                <a:solidFill>
                  <a:schemeClr val="tx2"/>
                </a:solidFill>
              </a:rPr>
              <a:t>Success: every parcel delivered; failure: max_steps runs out</a:t>
            </a:r>
            <a:endParaRPr lang="en-US" sz="1800" dirty="0"/>
          </a:p>
        </p:txBody>
      </p:sp>
      <p:sp>
        <p:nvSpPr>
          <p:cNvPr id="6" name="reward-card"/>
          <p:cNvSpPr/>
          <p:nvPr/>
        </p:nvSpPr>
        <p:spPr>
          <a:xfrm>
            <a:off x="6245352" y="1325880"/>
            <a:ext cx="5394960" cy="4206240"/>
          </a:xfrm>
          <a:prstGeom prst="roundRect">
            <a:avLst>
              <a:gd name="adj" fmla="val 2609"/>
            </a:avLst>
          </a:prstGeom>
          <a:solidFill>
            <a:schemeClr val="bg2"/>
          </a:solidFill>
          <a:ln w="12700">
            <a:solidFill>
              <a:schemeClr val="bg2"/>
            </a:solidFill>
            <a:prstDash val="solid"/>
          </a:ln>
        </p:spPr>
        <p:txBody>
          <a:bodyPr/>
          <a:lstStyle/>
          <a:p>
            <a:endParaRPr lang="en-US"/>
          </a:p>
        </p:txBody>
      </p:sp>
      <p:sp>
        <p:nvSpPr>
          <p:cNvPr id="7" name="reward-head"/>
          <p:cNvSpPr txBox="1"/>
          <p:nvPr/>
        </p:nvSpPr>
        <p:spPr>
          <a:xfrm>
            <a:off x="6565392" y="1600200"/>
            <a:ext cx="4754880" cy="457200"/>
          </a:xfrm>
          <a:prstGeom prst="rect">
            <a:avLst/>
          </a:prstGeom>
          <a:noFill/>
          <a:ln/>
        </p:spPr>
        <p:txBody>
          <a:bodyPr wrap="square" lIns="0" tIns="0" rIns="0" bIns="0" rtlCol="0" anchor="t"/>
          <a:lstStyle/>
          <a:p>
            <a:pPr marL="0" indent="0">
              <a:buNone/>
            </a:pPr>
            <a:r>
              <a:rPr lang="en-US" sz="2200" b="1" dirty="0">
                <a:solidFill>
                  <a:schemeClr val="tx1"/>
                </a:solidFill>
              </a:rPr>
              <a:t>Rewards</a:t>
            </a:r>
            <a:endParaRPr lang="en-US" sz="2200" dirty="0"/>
          </a:p>
        </p:txBody>
      </p:sp>
      <p:graphicFrame>
        <p:nvGraphicFramePr>
          <p:cNvPr id="8" name="reward-table"/>
          <p:cNvGraphicFramePr>
            <a:graphicFrameLocks noGrp="1"/>
          </p:cNvGraphicFramePr>
          <p:nvPr>
            <p:extLst>
              <p:ext uri="{D42A27DB-BD31-4B8C-83A1-F6EECF244321}">
                <p14:modId xmlns:p14="http://schemas.microsoft.com/office/powerpoint/2010/main" val="1579011935"/>
              </p:ext>
            </p:extLst>
          </p:nvPr>
        </p:nvGraphicFramePr>
        <p:xfrm>
          <a:off x="6565392" y="2240280"/>
          <a:ext cx="4754880" cy="2514600"/>
        </p:xfrm>
        <a:graphic>
          <a:graphicData uri="http://schemas.openxmlformats.org/drawingml/2006/table">
            <a:tbl>
              <a:tblPr/>
              <a:tblGrid>
                <a:gridCol w="3566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502920">
                <a:tc>
                  <a:txBody>
                    <a:bodyPr/>
                    <a:lstStyle/>
                    <a:p>
                      <a:pPr marL="0" indent="0" algn="l">
                        <a:buNone/>
                      </a:pPr>
                      <a:r>
                        <a:rPr lang="en-US" sz="1700" b="1" dirty="0">
                          <a:solidFill>
                            <a:schemeClr val="tx1"/>
                          </a:solidFill>
                        </a:rPr>
                        <a:t>Event</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r">
                        <a:buNone/>
                      </a:pPr>
                      <a:r>
                        <a:rPr lang="en-US" sz="1700" b="1" dirty="0">
                          <a:solidFill>
                            <a:schemeClr val="tx1"/>
                          </a:solidFill>
                        </a:rPr>
                        <a:t>Reward</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extLst>
                  <a:ext uri="{0D108BD9-81ED-4DB2-BD59-A6C34878D82A}">
                    <a16:rowId xmlns:a16="http://schemas.microsoft.com/office/drawing/2014/main" val="10000"/>
                  </a:ext>
                </a:extLst>
              </a:tr>
              <a:tr h="502920">
                <a:tc>
                  <a:txBody>
                    <a:bodyPr/>
                    <a:lstStyle/>
                    <a:p>
                      <a:pPr marL="0" indent="0">
                        <a:buNone/>
                      </a:pPr>
                      <a:r>
                        <a:rPr lang="en-US" sz="1700" dirty="0">
                          <a:solidFill>
                            <a:srgbClr val="3D4451"/>
                          </a:solidFill>
                        </a:rPr>
                        <a:t>Each step</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r">
                        <a:buNone/>
                      </a:pPr>
                      <a:r>
                        <a:rPr lang="en-US" sz="1700" b="1" dirty="0">
                          <a:solidFill>
                            <a:schemeClr val="tx1"/>
                          </a:solidFill>
                        </a:rPr>
                        <a:t>−1</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700" dirty="0">
                          <a:solidFill>
                            <a:srgbClr val="3D4451"/>
                          </a:solidFill>
                        </a:rPr>
                        <a:t>Correct delivery of one parcel</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r">
                        <a:buNone/>
                      </a:pPr>
                      <a:r>
                        <a:rPr lang="en-US" sz="1700" b="1" dirty="0">
                          <a:solidFill>
                            <a:schemeClr val="tx1"/>
                          </a:solidFill>
                        </a:rPr>
                        <a:t>+20</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700" dirty="0">
                          <a:solidFill>
                            <a:srgbClr val="3D4451"/>
                          </a:solidFill>
                        </a:rPr>
                        <a:t>Wrong Pickup / Drop</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r">
                        <a:buNone/>
                      </a:pPr>
                      <a:r>
                        <a:rPr lang="en-US" sz="1700" b="1" dirty="0">
                          <a:solidFill>
                            <a:schemeClr val="tx1"/>
                          </a:solidFill>
                        </a:rPr>
                        <a:t>−10</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700" dirty="0">
                          <a:solidFill>
                            <a:srgbClr val="3D4451"/>
                          </a:solidFill>
                        </a:rPr>
                        <a:t>Deadline parcel delivered late</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r">
                        <a:buNone/>
                      </a:pPr>
                      <a:r>
                        <a:rPr lang="en-US" sz="1700" b="1" dirty="0">
                          <a:solidFill>
                            <a:schemeClr val="tx1"/>
                          </a:solidFill>
                        </a:rPr>
                        <a:t>−30</a:t>
                      </a:r>
                      <a:endParaRPr lang="en-US" sz="17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reward-note"/>
          <p:cNvSpPr txBox="1"/>
          <p:nvPr/>
        </p:nvSpPr>
        <p:spPr>
          <a:xfrm>
            <a:off x="6565392" y="4892040"/>
            <a:ext cx="4754880" cy="457200"/>
          </a:xfrm>
          <a:prstGeom prst="rect">
            <a:avLst/>
          </a:prstGeom>
          <a:noFill/>
          <a:ln/>
        </p:spPr>
        <p:txBody>
          <a:bodyPr wrap="square" lIns="0" tIns="0" rIns="0" bIns="0" rtlCol="0" anchor="t"/>
          <a:lstStyle/>
          <a:p>
            <a:pPr marL="0" indent="0">
              <a:buNone/>
            </a:pPr>
            <a:r>
              <a:rPr lang="en-US" sz="1400" dirty="0">
                <a:solidFill>
                  <a:schemeClr val="accent6"/>
                </a:solidFill>
              </a:rPr>
              <a:t>The −30 penalty only exists in the deadline maps (S3, S4).</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Four levels of increasing difficulty</a:t>
            </a:r>
            <a:endParaRPr lang="en-US" sz="3400" dirty="0"/>
          </a:p>
        </p:txBody>
      </p:sp>
      <p:pic>
        <p:nvPicPr>
          <p:cNvPr id="3" name="maps" descr="The four maps S1 to S4: pickup points are circles, drop points are squares, walls are dark, the booster cell is yellow"/>
          <p:cNvPicPr>
            <a:picLocks noChangeAspect="1"/>
          </p:cNvPicPr>
          <p:nvPr/>
        </p:nvPicPr>
        <p:blipFill>
          <a:blip r:embed="rId3"/>
          <a:stretch>
            <a:fillRect/>
          </a:stretch>
        </p:blipFill>
        <p:spPr>
          <a:xfrm>
            <a:off x="552031" y="1234440"/>
            <a:ext cx="11084889" cy="3538728"/>
          </a:xfrm>
          <a:prstGeom prst="rect">
            <a:avLst/>
          </a:prstGeom>
        </p:spPr>
      </p:pic>
      <p:sp>
        <p:nvSpPr>
          <p:cNvPr id="4" name="setting-S1"/>
          <p:cNvSpPr txBox="1"/>
          <p:nvPr/>
        </p:nvSpPr>
        <p:spPr>
          <a:xfrm>
            <a:off x="548640"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S1 · level 1</a:t>
            </a:r>
            <a:endParaRPr lang="en-US" sz="1600" dirty="0"/>
          </a:p>
          <a:p>
            <a:pPr marL="0" indent="0">
              <a:buNone/>
            </a:pPr>
            <a:r>
              <a:rPr lang="en-US" sz="1600" dirty="0">
                <a:solidFill>
                  <a:schemeClr val="tx2"/>
                </a:solidFill>
              </a:rPr>
              <a:t>2 parcels, carry 2</a:t>
            </a:r>
            <a:endParaRPr lang="en-US" sz="1600" dirty="0"/>
          </a:p>
          <a:p>
            <a:pPr marL="0" indent="0">
              <a:buNone/>
            </a:pPr>
            <a:r>
              <a:rPr lang="en-US" sz="1600" dirty="0">
                <a:solidFill>
                  <a:schemeClr val="accent6"/>
                </a:solidFill>
              </a:rPr>
              <a:t>optimal route: 22 steps</a:t>
            </a:r>
            <a:endParaRPr lang="en-US" sz="1600" dirty="0"/>
          </a:p>
        </p:txBody>
      </p:sp>
      <p:sp>
        <p:nvSpPr>
          <p:cNvPr id="5" name="setting-S2"/>
          <p:cNvSpPr txBox="1"/>
          <p:nvPr/>
        </p:nvSpPr>
        <p:spPr>
          <a:xfrm>
            <a:off x="3390138"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S2 · level 2</a:t>
            </a:r>
            <a:endParaRPr lang="en-US" sz="1600" dirty="0"/>
          </a:p>
          <a:p>
            <a:pPr marL="0" indent="0">
              <a:buNone/>
            </a:pPr>
            <a:r>
              <a:rPr lang="en-US" sz="1600" dirty="0">
                <a:solidFill>
                  <a:schemeClr val="tx2"/>
                </a:solidFill>
              </a:rPr>
              <a:t>3 parcels, carry 1</a:t>
            </a:r>
            <a:endParaRPr lang="en-US" sz="1600" dirty="0"/>
          </a:p>
          <a:p>
            <a:pPr marL="0" indent="0">
              <a:buNone/>
            </a:pPr>
            <a:r>
              <a:rPr lang="en-US" sz="1600" dirty="0">
                <a:solidFill>
                  <a:schemeClr val="accent6"/>
                </a:solidFill>
              </a:rPr>
              <a:t>optimal route: 36 steps</a:t>
            </a:r>
            <a:endParaRPr lang="en-US" sz="1600" dirty="0"/>
          </a:p>
        </p:txBody>
      </p:sp>
      <p:sp>
        <p:nvSpPr>
          <p:cNvPr id="6" name="setting-S3"/>
          <p:cNvSpPr txBox="1"/>
          <p:nvPr/>
        </p:nvSpPr>
        <p:spPr>
          <a:xfrm>
            <a:off x="6231636"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S3 · level 3</a:t>
            </a:r>
            <a:endParaRPr lang="en-US" sz="1600" dirty="0"/>
          </a:p>
          <a:p>
            <a:pPr marL="0" indent="0">
              <a:buNone/>
            </a:pPr>
            <a:r>
              <a:rPr lang="en-US" sz="1600" dirty="0">
                <a:solidFill>
                  <a:schemeClr val="tx2"/>
                </a:solidFill>
              </a:rPr>
              <a:t>deadline for C: 20 steps</a:t>
            </a:r>
            <a:endParaRPr lang="en-US" sz="1600" dirty="0"/>
          </a:p>
          <a:p>
            <a:pPr marL="0" indent="0">
              <a:buNone/>
            </a:pPr>
            <a:r>
              <a:rPr lang="en-US" sz="1600" dirty="0">
                <a:solidFill>
                  <a:schemeClr val="accent6"/>
                </a:solidFill>
              </a:rPr>
              <a:t>optimal route: 44 steps</a:t>
            </a:r>
            <a:endParaRPr lang="en-US" sz="1600" dirty="0"/>
          </a:p>
        </p:txBody>
      </p:sp>
      <p:sp>
        <p:nvSpPr>
          <p:cNvPr id="7" name="setting-S4"/>
          <p:cNvSpPr txBox="1"/>
          <p:nvPr/>
        </p:nvSpPr>
        <p:spPr>
          <a:xfrm>
            <a:off x="9073134"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S4 · level 4</a:t>
            </a:r>
            <a:endParaRPr lang="en-US" sz="1600" dirty="0"/>
          </a:p>
          <a:p>
            <a:pPr marL="0" indent="0">
              <a:buNone/>
            </a:pPr>
            <a:r>
              <a:rPr lang="en-US" sz="1600" dirty="0">
                <a:solidFill>
                  <a:schemeClr val="tx2"/>
                </a:solidFill>
              </a:rPr>
              <a:t>4 parcels, ×2 cell, deadline D</a:t>
            </a:r>
            <a:endParaRPr lang="en-US" sz="1600" dirty="0"/>
          </a:p>
          <a:p>
            <a:pPr marL="0" indent="0">
              <a:buNone/>
            </a:pPr>
            <a:r>
              <a:rPr lang="en-US" sz="1600" dirty="0">
                <a:solidFill>
                  <a:schemeClr val="accent6"/>
                </a:solidFill>
              </a:rPr>
              <a:t>optimal route: 67 steps</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Three tabular algorithms</a:t>
            </a:r>
            <a:endParaRPr lang="en-US" sz="3400" dirty="0"/>
          </a:p>
        </p:txBody>
      </p:sp>
      <p:sp>
        <p:nvSpPr>
          <p:cNvPr id="26" name="QL-card"/>
          <p:cNvSpPr/>
          <p:nvPr/>
        </p:nvSpPr>
        <p:spPr>
          <a:xfrm>
            <a:off x="548640" y="1325880"/>
            <a:ext cx="3496056" cy="315468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27" name="QL-badge"/>
          <p:cNvSpPr/>
          <p:nvPr/>
        </p:nvSpPr>
        <p:spPr>
          <a:xfrm>
            <a:off x="822959" y="1600200"/>
            <a:ext cx="566928" cy="56692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bg1"/>
                </a:solidFill>
              </a:rPr>
              <a:t>QL</a:t>
            </a:r>
            <a:endParaRPr lang="en-US" sz="1400" dirty="0"/>
          </a:p>
        </p:txBody>
      </p:sp>
      <p:sp>
        <p:nvSpPr>
          <p:cNvPr id="28" name="QL-head"/>
          <p:cNvSpPr txBox="1"/>
          <p:nvPr/>
        </p:nvSpPr>
        <p:spPr>
          <a:xfrm>
            <a:off x="1536192" y="1600200"/>
            <a:ext cx="2307336" cy="566928"/>
          </a:xfrm>
          <a:prstGeom prst="rect">
            <a:avLst/>
          </a:prstGeom>
          <a:noFill/>
          <a:ln/>
        </p:spPr>
        <p:txBody>
          <a:bodyPr wrap="square" lIns="0" tIns="0" rIns="0" bIns="0" rtlCol="0" anchor="ctr"/>
          <a:lstStyle/>
          <a:p>
            <a:pPr marL="0" indent="0">
              <a:buNone/>
            </a:pPr>
            <a:r>
              <a:rPr lang="en-US" sz="2200" b="1" dirty="0">
                <a:solidFill>
                  <a:schemeClr val="tx1"/>
                </a:solidFill>
              </a:rPr>
              <a:t>Q-learning</a:t>
            </a:r>
            <a:endParaRPr lang="en-US" sz="2200" dirty="0"/>
          </a:p>
        </p:txBody>
      </p:sp>
      <p:sp>
        <p:nvSpPr>
          <p:cNvPr id="29" name="QL-formula"/>
          <p:cNvSpPr txBox="1"/>
          <p:nvPr/>
        </p:nvSpPr>
        <p:spPr>
          <a:xfrm>
            <a:off x="822959" y="2395728"/>
            <a:ext cx="2947416" cy="914400"/>
          </a:xfrm>
          <a:prstGeom prst="rect">
            <a:avLst/>
          </a:prstGeom>
          <a:noFill/>
          <a:ln/>
        </p:spPr>
        <p:txBody>
          <a:bodyPr wrap="square" lIns="0" tIns="0" rIns="0" bIns="0" rtlCol="0" anchor="t"/>
          <a:lstStyle/>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Q(s,a) ← Q(s,a) + α·δ</a:t>
            </a:r>
            <a:endParaRPr lang="en-US" sz="1500" dirty="0"/>
          </a:p>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δ = r + γ max</a:t>
            </a:r>
            <a:r>
              <a:rPr lang="en-US" sz="1500" dirty="0" baseline="-40000">
                <a:solidFill>
                  <a:schemeClr val="tx1"/>
                </a:solidFill>
                <a:latin typeface="Cambria" pitchFamily="34" charset="0"/>
                <a:ea typeface="Cambria" pitchFamily="34" charset="-122"/>
                <a:cs typeface="Cambria" pitchFamily="34" charset="-120"/>
              </a:rPr>
              <a:t>a′</a:t>
            </a:r>
            <a:r>
              <a:rPr lang="en-US" sz="1500" dirty="0">
                <a:solidFill>
                  <a:schemeClr val="tx1"/>
                </a:solidFill>
                <a:latin typeface="Cambria" pitchFamily="34" charset="0"/>
                <a:ea typeface="Cambria" pitchFamily="34" charset="-122"/>
                <a:cs typeface="Cambria" pitchFamily="34" charset="-120"/>
              </a:rPr>
              <a:t> Q(s′,a′) − Q(s,a)</a:t>
            </a:r>
            <a:endParaRPr lang="en-US" sz="1500" dirty="0"/>
          </a:p>
        </p:txBody>
      </p:sp>
      <p:sp>
        <p:nvSpPr>
          <p:cNvPr id="30" name="QL-list"/>
          <p:cNvSpPr txBox="1"/>
          <p:nvPr/>
        </p:nvSpPr>
        <p:spPr>
          <a:xfrm>
            <a:off x="822959" y="3429000"/>
            <a:ext cx="2947416" cy="1325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Off-policy: learns Q* while exploring</a:t>
            </a:r>
            <a:endParaRPr lang="en-US" sz="1500" dirty="0"/>
          </a:p>
          <a:p>
            <a:pPr marL="342900" indent="-342900">
              <a:spcAft>
                <a:spcPts val="1000"/>
              </a:spcAft>
              <a:buSzPct val="100000"/>
              <a:buChar char="•"/>
            </a:pPr>
            <a:r>
              <a:rPr lang="en-US" sz="1500" dirty="0">
                <a:solidFill>
                  <a:schemeClr val="tx2"/>
                </a:solidFill>
              </a:rPr>
              <a:t>α = 1 · ε: 1 → 0.01</a:t>
            </a:r>
            <a:endParaRPr lang="en-US" sz="1500" dirty="0"/>
          </a:p>
        </p:txBody>
      </p:sp>
      <p:sp>
        <p:nvSpPr>
          <p:cNvPr id="31" name="SARSA-card"/>
          <p:cNvSpPr/>
          <p:nvPr/>
        </p:nvSpPr>
        <p:spPr>
          <a:xfrm>
            <a:off x="4346448" y="1325880"/>
            <a:ext cx="3496056" cy="315468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32" name="SARSA-badge"/>
          <p:cNvSpPr/>
          <p:nvPr/>
        </p:nvSpPr>
        <p:spPr>
          <a:xfrm>
            <a:off x="4620767" y="1600200"/>
            <a:ext cx="566928" cy="566928"/>
          </a:xfrm>
          <a:prstGeom prst="ellipse">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SA</a:t>
            </a:r>
            <a:endParaRPr lang="en-US" sz="1400" dirty="0"/>
          </a:p>
        </p:txBody>
      </p:sp>
      <p:sp>
        <p:nvSpPr>
          <p:cNvPr id="33" name="SARSA-head"/>
          <p:cNvSpPr txBox="1"/>
          <p:nvPr/>
        </p:nvSpPr>
        <p:spPr>
          <a:xfrm>
            <a:off x="5334000" y="1600200"/>
            <a:ext cx="2307336" cy="566928"/>
          </a:xfrm>
          <a:prstGeom prst="rect">
            <a:avLst/>
          </a:prstGeom>
          <a:noFill/>
          <a:ln/>
        </p:spPr>
        <p:txBody>
          <a:bodyPr wrap="square" lIns="0" tIns="0" rIns="0" bIns="0" rtlCol="0" anchor="ctr"/>
          <a:lstStyle/>
          <a:p>
            <a:pPr marL="0" indent="0">
              <a:buNone/>
            </a:pPr>
            <a:r>
              <a:rPr lang="en-US" sz="2200" b="1" dirty="0">
                <a:solidFill>
                  <a:schemeClr val="tx1"/>
                </a:solidFill>
              </a:rPr>
              <a:t>SARSA</a:t>
            </a:r>
            <a:endParaRPr lang="en-US" sz="2200" dirty="0"/>
          </a:p>
        </p:txBody>
      </p:sp>
      <p:sp>
        <p:nvSpPr>
          <p:cNvPr id="34" name="SARSA-formula"/>
          <p:cNvSpPr txBox="1"/>
          <p:nvPr/>
        </p:nvSpPr>
        <p:spPr>
          <a:xfrm>
            <a:off x="4620767" y="2395728"/>
            <a:ext cx="2947416" cy="914400"/>
          </a:xfrm>
          <a:prstGeom prst="rect">
            <a:avLst/>
          </a:prstGeom>
          <a:noFill/>
          <a:ln/>
        </p:spPr>
        <p:txBody>
          <a:bodyPr wrap="square" lIns="0" tIns="0" rIns="0" bIns="0" rtlCol="0" anchor="t"/>
          <a:lstStyle/>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Q(s,a) ← Q(s,a) + α·δ</a:t>
            </a:r>
            <a:endParaRPr lang="en-US" sz="1500" dirty="0"/>
          </a:p>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δ = r + γ Q(s′,a′) − Q(s,a)</a:t>
            </a:r>
            <a:endParaRPr lang="en-US" sz="1500" dirty="0"/>
          </a:p>
        </p:txBody>
      </p:sp>
      <p:sp>
        <p:nvSpPr>
          <p:cNvPr id="35" name="SARSA-list"/>
          <p:cNvSpPr txBox="1"/>
          <p:nvPr/>
        </p:nvSpPr>
        <p:spPr>
          <a:xfrm>
            <a:off x="4620767" y="3429000"/>
            <a:ext cx="2947416" cy="1325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On-policy: a′ is the action it will take next</a:t>
            </a:r>
            <a:endParaRPr lang="en-US" sz="1500" dirty="0"/>
          </a:p>
          <a:p>
            <a:pPr marL="342900" indent="-342900">
              <a:spcAft>
                <a:spcPts val="1000"/>
              </a:spcAft>
              <a:buSzPct val="100000"/>
              <a:buChar char="•"/>
            </a:pPr>
            <a:r>
              <a:rPr lang="en-US" sz="1500" dirty="0">
                <a:solidFill>
                  <a:schemeClr val="tx2"/>
                </a:solidFill>
              </a:rPr>
              <a:t>α: 0.5 → 0.1 · ε: 1 → 10⁻⁵</a:t>
            </a:r>
            <a:endParaRPr lang="en-US" sz="1500" dirty="0"/>
          </a:p>
        </p:txBody>
      </p:sp>
      <p:sp>
        <p:nvSpPr>
          <p:cNvPr id="36" name="MC-card"/>
          <p:cNvSpPr/>
          <p:nvPr/>
        </p:nvSpPr>
        <p:spPr>
          <a:xfrm>
            <a:off x="8144256" y="1325880"/>
            <a:ext cx="3496056" cy="315468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37" name="MC-badge"/>
          <p:cNvSpPr/>
          <p:nvPr/>
        </p:nvSpPr>
        <p:spPr>
          <a:xfrm>
            <a:off x="8418576" y="1600200"/>
            <a:ext cx="566928" cy="566928"/>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MC</a:t>
            </a:r>
            <a:endParaRPr lang="en-US" sz="1400" dirty="0"/>
          </a:p>
        </p:txBody>
      </p:sp>
      <p:sp>
        <p:nvSpPr>
          <p:cNvPr id="38" name="MC-head"/>
          <p:cNvSpPr txBox="1"/>
          <p:nvPr/>
        </p:nvSpPr>
        <p:spPr>
          <a:xfrm>
            <a:off x="9131808" y="1600200"/>
            <a:ext cx="2307336" cy="566928"/>
          </a:xfrm>
          <a:prstGeom prst="rect">
            <a:avLst/>
          </a:prstGeom>
          <a:noFill/>
          <a:ln/>
        </p:spPr>
        <p:txBody>
          <a:bodyPr wrap="square" lIns="0" tIns="0" rIns="0" bIns="0" rtlCol="0" anchor="ctr"/>
          <a:lstStyle/>
          <a:p>
            <a:pPr marL="0" indent="0">
              <a:buNone/>
            </a:pPr>
            <a:r>
              <a:rPr lang="en-US" sz="2200" b="1" dirty="0">
                <a:solidFill>
                  <a:schemeClr val="tx1"/>
                </a:solidFill>
              </a:rPr>
              <a:t>Monte Carlo ES</a:t>
            </a:r>
            <a:endParaRPr lang="en-US" sz="2200" dirty="0"/>
          </a:p>
        </p:txBody>
      </p:sp>
      <p:sp>
        <p:nvSpPr>
          <p:cNvPr id="39" name="MC-formula"/>
          <p:cNvSpPr txBox="1"/>
          <p:nvPr/>
        </p:nvSpPr>
        <p:spPr>
          <a:xfrm>
            <a:off x="8418576" y="2395728"/>
            <a:ext cx="2947416" cy="914400"/>
          </a:xfrm>
          <a:prstGeom prst="rect">
            <a:avLst/>
          </a:prstGeom>
          <a:noFill/>
          <a:ln/>
        </p:spPr>
        <p:txBody>
          <a:bodyPr wrap="square" lIns="0" tIns="0" rIns="0" bIns="0" rtlCol="0" anchor="t"/>
          <a:lstStyle/>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G</a:t>
            </a:r>
            <a:r>
              <a:rPr lang="en-US" sz="1500" dirty="0" baseline="-4000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 = r</a:t>
            </a:r>
            <a:r>
              <a:rPr lang="en-US" sz="1500" dirty="0" baseline="-40000">
                <a:solidFill>
                  <a:schemeClr val="tx1"/>
                </a:solidFill>
                <a:latin typeface="Cambria" pitchFamily="34" charset="0"/>
                <a:ea typeface="Cambria" pitchFamily="34" charset="-122"/>
                <a:cs typeface="Cambria" pitchFamily="34" charset="-120"/>
              </a:rPr>
              <a:t>t+1</a:t>
            </a:r>
            <a:r>
              <a:rPr lang="en-US" sz="1500" dirty="0">
                <a:solidFill>
                  <a:schemeClr val="tx1"/>
                </a:solidFill>
                <a:latin typeface="Cambria" pitchFamily="34" charset="0"/>
                <a:ea typeface="Cambria" pitchFamily="34" charset="-122"/>
                <a:cs typeface="Cambria" pitchFamily="34" charset="-120"/>
              </a:rPr>
              <a:t> + γ G</a:t>
            </a:r>
            <a:r>
              <a:rPr lang="en-US" sz="1500" dirty="0" baseline="-40000">
                <a:solidFill>
                  <a:schemeClr val="tx1"/>
                </a:solidFill>
                <a:latin typeface="Cambria" pitchFamily="34" charset="0"/>
                <a:ea typeface="Cambria" pitchFamily="34" charset="-122"/>
                <a:cs typeface="Cambria" pitchFamily="34" charset="-120"/>
              </a:rPr>
              <a:t>t+1</a:t>
            </a:r>
            <a:endParaRPr lang="en-US" sz="1500" dirty="0"/>
          </a:p>
          <a:p>
            <a:pPr marL="0" indent="0">
              <a:lnSpc>
                <a:spcPct val="120000"/>
              </a:lnSpc>
              <a:buNone/>
            </a:pPr>
            <a:r>
              <a:rPr lang="en-US" sz="1500" dirty="0">
                <a:solidFill>
                  <a:schemeClr val="tx1"/>
                </a:solidFill>
                <a:latin typeface="Cambria" pitchFamily="34" charset="0"/>
                <a:ea typeface="Cambria" pitchFamily="34" charset="-122"/>
                <a:cs typeface="Cambria" pitchFamily="34" charset="-120"/>
              </a:rPr>
              <a:t>Q(s,a) ← Q(s,a) + α [G</a:t>
            </a:r>
            <a:r>
              <a:rPr lang="en-US" sz="1500" dirty="0" baseline="-4000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 − Q(s,a)]</a:t>
            </a:r>
            <a:endParaRPr lang="en-US" sz="1500" dirty="0"/>
          </a:p>
        </p:txBody>
      </p:sp>
      <p:sp>
        <p:nvSpPr>
          <p:cNvPr id="40" name="MC-list"/>
          <p:cNvSpPr txBox="1"/>
          <p:nvPr/>
        </p:nvSpPr>
        <p:spPr>
          <a:xfrm>
            <a:off x="8418576" y="3429000"/>
            <a:ext cx="2947416" cy="1325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Greedy (ε = 0): explores only through exploring starts</a:t>
            </a:r>
            <a:endParaRPr lang="en-US" sz="1500" dirty="0"/>
          </a:p>
          <a:p>
            <a:pPr marL="342900" indent="-342900">
              <a:spcAft>
                <a:spcPts val="1000"/>
              </a:spcAft>
              <a:buSzPct val="100000"/>
              <a:buChar char="•"/>
            </a:pPr>
            <a:r>
              <a:rPr lang="en-US" sz="1500" dirty="0">
                <a:solidFill>
                  <a:schemeClr val="tx2"/>
                </a:solidFill>
              </a:rPr>
              <a:t>α = 1: Q = the latest return</a:t>
            </a:r>
            <a:endParaRPr lang="en-US" sz="1500" dirty="0"/>
          </a:p>
        </p:txBody>
      </p:sp>
      <p:sp>
        <p:nvSpPr>
          <p:cNvPr id="13" name="shared"/>
          <p:cNvSpPr txBox="1"/>
          <p:nvPr/>
        </p:nvSpPr>
        <p:spPr>
          <a:xfrm>
            <a:off x="548640" y="4754880"/>
            <a:ext cx="11091672" cy="731520"/>
          </a:xfrm>
          <a:prstGeom prst="rect">
            <a:avLst/>
          </a:prstGeom>
          <a:noFill/>
          <a:ln/>
        </p:spPr>
        <p:txBody>
          <a:bodyPr wrap="square" lIns="0" tIns="0" rIns="0" bIns="0" rtlCol="0" anchor="t"/>
          <a:lstStyle/>
          <a:p>
            <a:pPr marL="0" indent="0">
              <a:buNone/>
            </a:pPr>
            <a:r>
              <a:rPr lang="en-US" sz="1700" b="1" dirty="0">
                <a:solidFill>
                  <a:schemeClr val="tx1"/>
                </a:solidFill>
              </a:rPr>
              <a:t>Shared: </a:t>
            </a:r>
            <a:r>
              <a:rPr lang="en-US" sz="1700" dirty="0">
                <a:solidFill>
                  <a:schemeClr val="tx2"/>
                </a:solidFill>
              </a:rPr>
              <a:t>exploring starts (random reachable state + random first action) · γ = 0.99 · 5 seeds · accuracy = % of start cells that reach the optimal return</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Accuracy: all three reach 100% on every map</a:t>
            </a:r>
            <a:endParaRPr lang="en-US" sz="3400" dirty="0"/>
          </a:p>
        </p:txBody>
      </p:sp>
      <p:pic>
        <p:nvPicPr>
          <p:cNvPr id="3" name="learning-curves" descr="Learning curves on the four maps: greedy policy return per episode for both Q-learning variants and Monte Carlo, 5 seeds"/>
          <p:cNvPicPr>
            <a:picLocks noChangeAspect="1"/>
          </p:cNvPicPr>
          <p:nvPr/>
        </p:nvPicPr>
        <p:blipFill>
          <a:blip r:embed="rId3"/>
          <a:stretch>
            <a:fillRect/>
          </a:stretch>
        </p:blipFill>
        <p:spPr>
          <a:xfrm>
            <a:off x="550278" y="1234440"/>
            <a:ext cx="7147331" cy="4937760"/>
          </a:xfrm>
          <a:prstGeom prst="rect">
            <a:avLst/>
          </a:prstGeom>
        </p:spPr>
      </p:pic>
      <p:sp>
        <p:nvSpPr>
          <p:cNvPr id="4" name="stat-s4-num"/>
          <p:cNvSpPr txBox="1"/>
          <p:nvPr/>
        </p:nvSpPr>
        <p:spPr>
          <a:xfrm>
            <a:off x="8092440" y="1417320"/>
            <a:ext cx="3547872" cy="685800"/>
          </a:xfrm>
          <a:prstGeom prst="rect">
            <a:avLst/>
          </a:prstGeom>
          <a:noFill/>
          <a:ln/>
        </p:spPr>
        <p:txBody>
          <a:bodyPr wrap="square" lIns="0" tIns="0" rIns="0" bIns="0" rtlCol="0" anchor="t"/>
          <a:lstStyle/>
          <a:p>
            <a:pPr marL="0" indent="0">
              <a:buNone/>
            </a:pPr>
            <a:r>
              <a:rPr lang="en-US" sz="4000" b="1" dirty="0">
                <a:solidFill>
                  <a:schemeClr val="tx1"/>
                </a:solidFill>
              </a:rPr>
              <a:t>60 / 60</a:t>
            </a:r>
            <a:endParaRPr lang="en-US" sz="4000" dirty="0"/>
          </a:p>
        </p:txBody>
      </p:sp>
      <p:sp>
        <p:nvSpPr>
          <p:cNvPr id="5" name="stat-s4-label"/>
          <p:cNvSpPr txBox="1"/>
          <p:nvPr/>
        </p:nvSpPr>
        <p:spPr>
          <a:xfrm>
            <a:off x="8092440" y="2130552"/>
            <a:ext cx="3547872" cy="685800"/>
          </a:xfrm>
          <a:prstGeom prst="rect">
            <a:avLst/>
          </a:prstGeom>
          <a:noFill/>
          <a:ln/>
        </p:spPr>
        <p:txBody>
          <a:bodyPr wrap="square" lIns="0" tIns="0" rIns="0" bIns="0" rtlCol="0" anchor="t"/>
          <a:lstStyle/>
          <a:p>
            <a:pPr marL="0" indent="0">
              <a:buNone/>
            </a:pPr>
            <a:r>
              <a:rPr lang="en-US" sz="1500" dirty="0">
                <a:solidFill>
                  <a:schemeClr val="tx2"/>
                </a:solidFill>
              </a:rPr>
              <a:t>runs end at 100% accuracy (3 algorithms × 4 maps × 5 seeds)</a:t>
            </a:r>
            <a:endParaRPr lang="en-US" sz="1500" dirty="0"/>
          </a:p>
        </p:txBody>
      </p:sp>
      <p:sp>
        <p:nvSpPr>
          <p:cNvPr id="6" name="stat-s3-num"/>
          <p:cNvSpPr txBox="1"/>
          <p:nvPr/>
        </p:nvSpPr>
        <p:spPr>
          <a:xfrm>
            <a:off x="8092440" y="2971800"/>
            <a:ext cx="3547872" cy="685800"/>
          </a:xfrm>
          <a:prstGeom prst="rect">
            <a:avLst/>
          </a:prstGeom>
          <a:noFill/>
          <a:ln/>
        </p:spPr>
        <p:txBody>
          <a:bodyPr wrap="square" lIns="0" tIns="0" rIns="0" bIns="0" rtlCol="0" anchor="t"/>
          <a:lstStyle/>
          <a:p>
            <a:pPr marL="0" indent="0">
              <a:buNone/>
            </a:pPr>
            <a:r>
              <a:rPr lang="en-US" sz="4000" b="1" dirty="0">
                <a:solidFill>
                  <a:schemeClr val="accent1"/>
                </a:solidFill>
              </a:rPr>
              <a:t>1.1 M</a:t>
            </a:r>
            <a:endParaRPr lang="en-US" sz="4000" dirty="0"/>
          </a:p>
        </p:txBody>
      </p:sp>
      <p:sp>
        <p:nvSpPr>
          <p:cNvPr id="7" name="stat-s3-label"/>
          <p:cNvSpPr txBox="1"/>
          <p:nvPr/>
        </p:nvSpPr>
        <p:spPr>
          <a:xfrm>
            <a:off x="8092440" y="3685032"/>
            <a:ext cx="3547872" cy="685800"/>
          </a:xfrm>
          <a:prstGeom prst="rect">
            <a:avLst/>
          </a:prstGeom>
          <a:noFill/>
          <a:ln/>
        </p:spPr>
        <p:txBody>
          <a:bodyPr wrap="square" lIns="0" tIns="0" rIns="0" bIns="0" rtlCol="0" anchor="t"/>
          <a:lstStyle/>
          <a:p>
            <a:pPr marL="0" indent="0">
              <a:buNone/>
            </a:pPr>
            <a:r>
              <a:rPr lang="en-US" sz="1500" dirty="0">
                <a:solidFill>
                  <a:schemeClr val="tx2"/>
                </a:solidFill>
              </a:rPr>
              <a:t>episodes Q-learning needs on S4 (median), the fastest</a:t>
            </a:r>
            <a:endParaRPr lang="en-US" sz="1500" dirty="0"/>
          </a:p>
        </p:txBody>
      </p:sp>
      <p:sp>
        <p:nvSpPr>
          <p:cNvPr id="8" name="stat-mc-num"/>
          <p:cNvSpPr txBox="1"/>
          <p:nvPr/>
        </p:nvSpPr>
        <p:spPr>
          <a:xfrm>
            <a:off x="8092440" y="4526280"/>
            <a:ext cx="3547872" cy="685800"/>
          </a:xfrm>
          <a:prstGeom prst="rect">
            <a:avLst/>
          </a:prstGeom>
          <a:noFill/>
          <a:ln/>
        </p:spPr>
        <p:txBody>
          <a:bodyPr wrap="square" lIns="0" tIns="0" rIns="0" bIns="0" rtlCol="0" anchor="t"/>
          <a:lstStyle/>
          <a:p>
            <a:pPr marL="0" indent="0">
              <a:buNone/>
            </a:pPr>
            <a:r>
              <a:rPr lang="en-US" sz="4000" b="1" dirty="0">
                <a:solidFill>
                  <a:schemeClr val="accent3"/>
                </a:solidFill>
              </a:rPr>
              <a:t>3.6 M</a:t>
            </a:r>
            <a:endParaRPr lang="en-US" sz="4000" dirty="0"/>
          </a:p>
        </p:txBody>
      </p:sp>
      <p:sp>
        <p:nvSpPr>
          <p:cNvPr id="9" name="stat-mc-label"/>
          <p:cNvSpPr txBox="1"/>
          <p:nvPr/>
        </p:nvSpPr>
        <p:spPr>
          <a:xfrm>
            <a:off x="8092440" y="5239512"/>
            <a:ext cx="3547872" cy="685800"/>
          </a:xfrm>
          <a:prstGeom prst="rect">
            <a:avLst/>
          </a:prstGeom>
          <a:noFill/>
          <a:ln/>
        </p:spPr>
        <p:txBody>
          <a:bodyPr wrap="square" lIns="0" tIns="0" rIns="0" bIns="0" rtlCol="0" anchor="t"/>
          <a:lstStyle/>
          <a:p>
            <a:pPr marL="0" indent="0">
              <a:buNone/>
            </a:pPr>
            <a:r>
              <a:rPr lang="en-US" sz="1500" dirty="0">
                <a:solidFill>
                  <a:schemeClr val="tx2"/>
                </a:solidFill>
              </a:rPr>
              <a:t>episodes SARSA needs on S4, about 3× Q-learning</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Same episodes, new settings: accuracy jumps to 100%</a:t>
            </a:r>
            <a:endParaRPr lang="en-US" sz="3400" dirty="0"/>
          </a:p>
        </p:txBody>
      </p:sp>
      <p:pic>
        <p:nvPicPr>
          <p:cNvPr id="3" name="final-returns" descr="Final return of every seed on the four maps for both Q-learning variants, Monte Carlo and Monte Carlo 4x, against the optimum"/>
          <p:cNvPicPr>
            <a:picLocks noChangeAspect="1"/>
          </p:cNvPicPr>
          <p:nvPr/>
        </p:nvPicPr>
        <p:blipFill>
          <a:blip r:embed="rId3"/>
          <a:stretch>
            <a:fillRect/>
          </a:stretch>
        </p:blipFill>
        <p:spPr>
          <a:xfrm>
            <a:off x="565280" y="1234440"/>
            <a:ext cx="11058391" cy="3657600"/>
          </a:xfrm>
          <a:prstGeom prst="rect">
            <a:avLst/>
          </a:prstGeom>
        </p:spPr>
      </p:pic>
      <p:sp>
        <p:nvSpPr>
          <p:cNvPr id="26" name="change-1"/>
          <p:cNvSpPr txBox="1"/>
          <p:nvPr/>
        </p:nvSpPr>
        <p:spPr>
          <a:xfrm>
            <a:off x="548640"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Exploring starts</a:t>
            </a:r>
            <a:endParaRPr lang="en-US" sz="1600" dirty="0"/>
          </a:p>
          <a:p>
            <a:pPr marL="0" indent="0">
              <a:buNone/>
            </a:pPr>
            <a:r>
              <a:rPr lang="en-US" sz="1600" dirty="0">
                <a:solidFill>
                  <a:schemeClr val="tx2"/>
                </a:solidFill>
              </a:rPr>
              <a:t>random reachable state</a:t>
            </a:r>
            <a:endParaRPr lang="en-US" sz="1600" dirty="0"/>
          </a:p>
          <a:p>
            <a:pPr marL="0" indent="0">
              <a:buNone/>
            </a:pPr>
            <a:r>
              <a:rPr lang="en-US" sz="1600" dirty="0">
                <a:solidFill>
                  <a:schemeClr val="accent6"/>
                </a:solidFill>
              </a:rPr>
              <a:t>+ random first action</a:t>
            </a:r>
            <a:endParaRPr lang="en-US" sz="1600" dirty="0"/>
          </a:p>
        </p:txBody>
      </p:sp>
      <p:sp>
        <p:nvSpPr>
          <p:cNvPr id="27" name="change-2"/>
          <p:cNvSpPr txBox="1"/>
          <p:nvPr/>
        </p:nvSpPr>
        <p:spPr>
          <a:xfrm>
            <a:off x="3390138"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ε per algorithm</a:t>
            </a:r>
            <a:endParaRPr lang="en-US" sz="1600" dirty="0"/>
          </a:p>
          <a:p>
            <a:pPr marL="0" indent="0">
              <a:buNone/>
            </a:pPr>
            <a:r>
              <a:rPr lang="en-US" sz="1600" dirty="0">
                <a:solidFill>
                  <a:schemeClr val="tx2"/>
                </a:solidFill>
              </a:rPr>
              <a:t>QL → 0.01, SARSA → 10⁻⁵</a:t>
            </a:r>
            <a:endParaRPr lang="en-US" sz="1600" dirty="0"/>
          </a:p>
          <a:p>
            <a:pPr marL="0" indent="0">
              <a:buNone/>
            </a:pPr>
            <a:r>
              <a:rPr lang="en-US" sz="1600" dirty="0">
                <a:solidFill>
                  <a:schemeClr val="accent6"/>
                </a:solidFill>
              </a:rPr>
              <a:t>MC ES: ε = 0 (greedy)</a:t>
            </a:r>
            <a:endParaRPr lang="en-US" sz="1600" dirty="0"/>
          </a:p>
        </p:txBody>
      </p:sp>
      <p:sp>
        <p:nvSpPr>
          <p:cNvPr id="28" name="change-3"/>
          <p:cNvSpPr txBox="1"/>
          <p:nvPr/>
        </p:nvSpPr>
        <p:spPr>
          <a:xfrm>
            <a:off x="6231636"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Step size α</a:t>
            </a:r>
            <a:endParaRPr lang="en-US" sz="1600" dirty="0"/>
          </a:p>
          <a:p>
            <a:pPr marL="0" indent="0">
              <a:buNone/>
            </a:pPr>
            <a:r>
              <a:rPr lang="en-US" sz="1600" dirty="0">
                <a:solidFill>
                  <a:schemeClr val="tx2"/>
                </a:solidFill>
              </a:rPr>
              <a:t>QL 1 · SARSA 0.5 → 0.1</a:t>
            </a:r>
            <a:endParaRPr lang="en-US" sz="1600" dirty="0"/>
          </a:p>
          <a:p>
            <a:pPr marL="0" indent="0">
              <a:buNone/>
            </a:pPr>
            <a:r>
              <a:rPr lang="en-US" sz="1600" dirty="0">
                <a:solidFill>
                  <a:schemeClr val="accent6"/>
                </a:solidFill>
              </a:rPr>
              <a:t>MC ES 1 (latest return)</a:t>
            </a:r>
            <a:endParaRPr lang="en-US" sz="1600" dirty="0"/>
          </a:p>
        </p:txBody>
      </p:sp>
      <p:sp>
        <p:nvSpPr>
          <p:cNvPr id="29" name="change-4"/>
          <p:cNvSpPr txBox="1"/>
          <p:nvPr/>
        </p:nvSpPr>
        <p:spPr>
          <a:xfrm>
            <a:off x="9073134" y="5049653"/>
            <a:ext cx="2567178" cy="1005840"/>
          </a:xfrm>
          <a:prstGeom prst="rect">
            <a:avLst/>
          </a:prstGeom>
          <a:noFill/>
          <a:ln/>
        </p:spPr>
        <p:txBody>
          <a:bodyPr wrap="square" lIns="0" tIns="0" rIns="0" bIns="0" rtlCol="0" anchor="t"/>
          <a:lstStyle/>
          <a:p>
            <a:pPr marL="0" indent="0">
              <a:buNone/>
            </a:pPr>
            <a:r>
              <a:rPr lang="en-US" sz="1600" b="1" dirty="0">
                <a:solidFill>
                  <a:schemeClr val="tx1"/>
                </a:solidFill>
              </a:rPr>
              <a:t>More episodes</a:t>
            </a:r>
            <a:endParaRPr lang="en-US" sz="1600" dirty="0"/>
          </a:p>
          <a:p>
            <a:pPr marL="0" indent="0">
              <a:buNone/>
            </a:pPr>
            <a:r>
              <a:rPr lang="en-US" sz="1600" dirty="0">
                <a:solidFill>
                  <a:schemeClr val="tx2"/>
                </a:solidFill>
              </a:rPr>
              <a:t>up to 6 M on S4</a:t>
            </a:r>
            <a:endParaRPr lang="en-US" sz="1600" dirty="0"/>
          </a:p>
          <a:p>
            <a:pPr marL="0" indent="0">
              <a:buNone/>
            </a:pPr>
            <a:r>
              <a:rPr lang="en-US" sz="1600" dirty="0">
                <a:solidFill>
                  <a:schemeClr val="accent6"/>
                </a:solidFill>
              </a:rPr>
              <a:t>numba: about 170× faster</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S4 policy: deadline first, then the booster</a:t>
            </a:r>
            <a:endParaRPr lang="en-US" sz="3400" dirty="0"/>
          </a:p>
        </p:txBody>
      </p:sp>
      <p:pic>
        <p:nvPicPr>
          <p:cNvPr id="3" name="policy-s4" descr="S4 policy in 7 phases: grey arrows are the greedy action in each cell, the coloured line is the path actually taken"/>
          <p:cNvPicPr>
            <a:picLocks noChangeAspect="1"/>
          </p:cNvPicPr>
          <p:nvPr/>
        </p:nvPicPr>
        <p:blipFill>
          <a:blip r:embed="rId3"/>
          <a:stretch>
            <a:fillRect/>
          </a:stretch>
        </p:blipFill>
        <p:spPr>
          <a:xfrm>
            <a:off x="548640" y="1234440"/>
            <a:ext cx="5207814" cy="4937760"/>
          </a:xfrm>
          <a:prstGeom prst="rect">
            <a:avLst/>
          </a:prstGeom>
        </p:spPr>
      </p:pic>
      <p:sp>
        <p:nvSpPr>
          <p:cNvPr id="4" name="s4-steps"/>
          <p:cNvSpPr txBox="1"/>
          <p:nvPr/>
        </p:nvSpPr>
        <p:spPr>
          <a:xfrm>
            <a:off x="6167934" y="1417320"/>
            <a:ext cx="5472377" cy="356616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600" dirty="0">
                <a:solidFill>
                  <a:schemeClr val="tx2"/>
                </a:solidFill>
              </a:rPr>
              <a:t>Pick up D in the bottom-right corner</a:t>
            </a:r>
            <a:endParaRPr lang="en-US" sz="1600" dirty="0"/>
          </a:p>
          <a:p>
            <a:pPr marL="342900" indent="-342900">
              <a:spcAft>
                <a:spcPts val="1000"/>
              </a:spcAft>
              <a:buSzPct val="100000"/>
              <a:buFont typeface="+mj-lt"/>
              <a:buAutoNum type="arabicPeriod"/>
            </a:pPr>
            <a:r>
              <a:rPr lang="en-US" sz="1600" dirty="0">
                <a:solidFill>
                  <a:schemeClr val="tx2"/>
                </a:solidFill>
              </a:rPr>
              <a:t>Deliver D in the middle, before its 22-step deadline</a:t>
            </a:r>
            <a:endParaRPr lang="en-US" sz="1600" dirty="0"/>
          </a:p>
          <a:p>
            <a:pPr marL="342900" indent="-342900">
              <a:spcAft>
                <a:spcPts val="1000"/>
              </a:spcAft>
              <a:buSzPct val="100000"/>
              <a:buFont typeface="+mj-lt"/>
              <a:buAutoNum type="arabicPeriod"/>
            </a:pPr>
            <a:r>
              <a:rPr lang="en-US" sz="1600" dirty="0">
                <a:solidFill>
                  <a:schemeClr val="tx2"/>
                </a:solidFill>
              </a:rPr>
              <a:t>Pick up C and deliver it on the top row</a:t>
            </a:r>
            <a:endParaRPr lang="en-US" sz="1600" dirty="0"/>
          </a:p>
          <a:p>
            <a:pPr marL="342900" indent="-342900">
              <a:spcAft>
                <a:spcPts val="1000"/>
              </a:spcAft>
              <a:buSzPct val="100000"/>
              <a:buFont typeface="+mj-lt"/>
              <a:buAutoNum type="arabicPeriod"/>
            </a:pPr>
            <a:r>
              <a:rPr lang="en-US" sz="1600" dirty="0">
                <a:solidFill>
                  <a:schemeClr val="tx2"/>
                </a:solidFill>
              </a:rPr>
              <a:t>Go down to the ×2 cell: booster on</a:t>
            </a:r>
            <a:endParaRPr lang="en-US" sz="1600" dirty="0"/>
          </a:p>
          <a:p>
            <a:pPr marL="342900" indent="-342900">
              <a:spcAft>
                <a:spcPts val="1000"/>
              </a:spcAft>
              <a:buSzPct val="100000"/>
              <a:buFont typeface="+mj-lt"/>
              <a:buAutoNum type="arabicPeriod"/>
            </a:pPr>
            <a:r>
              <a:rPr lang="en-US" sz="1600" dirty="0">
                <a:solidFill>
                  <a:schemeClr val="tx2"/>
                </a:solidFill>
              </a:rPr>
              <a:t>Pick up A, then B: carrying 2 parcels</a:t>
            </a:r>
            <a:endParaRPr lang="en-US" sz="1600" dirty="0"/>
          </a:p>
          <a:p>
            <a:pPr marL="342900" indent="-342900">
              <a:spcAft>
                <a:spcPts val="1000"/>
              </a:spcAft>
              <a:buSzPct val="100000"/>
              <a:buFont typeface="+mj-lt"/>
              <a:buAutoNum type="arabicPeriod"/>
            </a:pPr>
            <a:r>
              <a:rPr lang="en-US" sz="1600" dirty="0">
                <a:solidFill>
                  <a:schemeClr val="tx2"/>
                </a:solidFill>
              </a:rPr>
              <a:t>Deliver B, then A, in the bottom-left corner</a:t>
            </a:r>
            <a:endParaRPr lang="en-US" sz="1600" dirty="0"/>
          </a:p>
        </p:txBody>
      </p:sp>
      <p:sp>
        <p:nvSpPr>
          <p:cNvPr id="5" name="s4-result"/>
          <p:cNvSpPr txBox="1"/>
          <p:nvPr/>
        </p:nvSpPr>
        <p:spPr>
          <a:xfrm>
            <a:off x="6167934" y="5120640"/>
            <a:ext cx="5472377" cy="457200"/>
          </a:xfrm>
          <a:prstGeom prst="rect">
            <a:avLst/>
          </a:prstGeom>
          <a:noFill/>
          <a:ln/>
        </p:spPr>
        <p:txBody>
          <a:bodyPr wrap="square" lIns="0" tIns="0" rIns="0" bIns="0" rtlCol="0" anchor="t"/>
          <a:lstStyle/>
          <a:p>
            <a:pPr marL="0" indent="0">
              <a:buNone/>
            </a:pPr>
            <a:r>
              <a:rPr lang="en-US" sz="1800" b="1" dirty="0">
                <a:solidFill>
                  <a:schemeClr val="tx1"/>
                </a:solidFill>
              </a:rPr>
              <a:t>67 steps, return 13 = optimal</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Why the new settings work</a:t>
            </a:r>
            <a:endParaRPr lang="en-US" sz="3400" dirty="0"/>
          </a:p>
        </p:txBody>
      </p:sp>
      <p:pic>
        <p:nvPicPr>
          <p:cNvPr id="3" name="episode-length" descr="Steps per training episode: Q-learning drops quickly, Monte Carlo more slowly and stays near 200 steps on S4"/>
          <p:cNvPicPr>
            <a:picLocks noChangeAspect="1"/>
          </p:cNvPicPr>
          <p:nvPr/>
        </p:nvPicPr>
        <p:blipFill>
          <a:blip r:embed="rId3"/>
          <a:stretch>
            <a:fillRect/>
          </a:stretch>
        </p:blipFill>
        <p:spPr>
          <a:xfrm>
            <a:off x="601425" y="1234440"/>
            <a:ext cx="7045036" cy="4937760"/>
          </a:xfrm>
          <a:prstGeom prst="rect">
            <a:avLst/>
          </a:prstGeom>
        </p:spPr>
      </p:pic>
      <p:sp>
        <p:nvSpPr>
          <p:cNvPr id="4" name="reason-1-badge"/>
          <p:cNvSpPr/>
          <p:nvPr/>
        </p:nvSpPr>
        <p:spPr>
          <a:xfrm>
            <a:off x="8092440" y="1371600"/>
            <a:ext cx="457200" cy="45720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reason-1-head"/>
          <p:cNvSpPr txBox="1"/>
          <p:nvPr/>
        </p:nvSpPr>
        <p:spPr>
          <a:xfrm>
            <a:off x="8732520" y="1371600"/>
            <a:ext cx="2907792" cy="457200"/>
          </a:xfrm>
          <a:prstGeom prst="rect">
            <a:avLst/>
          </a:prstGeom>
          <a:noFill/>
          <a:ln/>
        </p:spPr>
        <p:txBody>
          <a:bodyPr wrap="square" lIns="0" tIns="0" rIns="0" bIns="0" rtlCol="0" anchor="ctr"/>
          <a:lstStyle/>
          <a:p>
            <a:pPr marL="0" indent="0">
              <a:buNone/>
            </a:pPr>
            <a:r>
              <a:rPr lang="en-US" sz="1800" b="1" dirty="0">
                <a:solidFill>
                  <a:schemeClr val="tx1"/>
                </a:solidFill>
              </a:rPr>
              <a:t>Exploring starts cover τ and b</a:t>
            </a:r>
            <a:endParaRPr lang="en-US" sz="1800" dirty="0"/>
          </a:p>
        </p:txBody>
      </p:sp>
      <p:sp>
        <p:nvSpPr>
          <p:cNvPr id="6" name="reason-1-text"/>
          <p:cNvSpPr txBox="1"/>
          <p:nvPr/>
        </p:nvSpPr>
        <p:spPr>
          <a:xfrm>
            <a:off x="8732520" y="1874520"/>
            <a:ext cx="2907792" cy="1005840"/>
          </a:xfrm>
          <a:prstGeom prst="rect">
            <a:avLst/>
          </a:prstGeom>
          <a:noFill/>
          <a:ln/>
        </p:spPr>
        <p:txBody>
          <a:bodyPr wrap="square" lIns="0" tIns="0" rIns="0" bIns="0" rtlCol="0" anchor="t"/>
          <a:lstStyle/>
          <a:p>
            <a:pPr marL="0" indent="0">
              <a:buNone/>
            </a:pPr>
            <a:r>
              <a:rPr lang="en-US" sz="1400" dirty="0">
                <a:solidFill>
                  <a:schemeClr val="tx2"/>
                </a:solidFill>
              </a:rPr>
              <a:t>Every (s, a) gets direct updates, even states rarely reached from τ = 0</a:t>
            </a:r>
            <a:endParaRPr lang="en-US" sz="1400" dirty="0"/>
          </a:p>
        </p:txBody>
      </p:sp>
      <p:sp>
        <p:nvSpPr>
          <p:cNvPr id="7" name="reason-2-badge"/>
          <p:cNvSpPr/>
          <p:nvPr/>
        </p:nvSpPr>
        <p:spPr>
          <a:xfrm>
            <a:off x="8092440" y="2971800"/>
            <a:ext cx="457200" cy="45720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reason-2-head"/>
          <p:cNvSpPr txBox="1"/>
          <p:nvPr/>
        </p:nvSpPr>
        <p:spPr>
          <a:xfrm>
            <a:off x="8732520" y="2971800"/>
            <a:ext cx="2907792" cy="457200"/>
          </a:xfrm>
          <a:prstGeom prst="rect">
            <a:avLst/>
          </a:prstGeom>
          <a:noFill/>
          <a:ln/>
        </p:spPr>
        <p:txBody>
          <a:bodyPr wrap="square" lIns="0" tIns="0" rIns="0" bIns="0" rtlCol="0" anchor="ctr"/>
          <a:lstStyle/>
          <a:p>
            <a:pPr marL="0" indent="0">
              <a:buNone/>
            </a:pPr>
            <a:r>
              <a:rPr lang="en-US" sz="1800" b="1" dirty="0">
                <a:solidFill>
                  <a:schemeClr val="tx1"/>
                </a:solidFill>
              </a:rPr>
              <a:t>SARSA needs ε → 0</a:t>
            </a:r>
            <a:endParaRPr lang="en-US" sz="1800" dirty="0"/>
          </a:p>
        </p:txBody>
      </p:sp>
      <p:sp>
        <p:nvSpPr>
          <p:cNvPr id="9" name="reason-2-text"/>
          <p:cNvSpPr txBox="1"/>
          <p:nvPr/>
        </p:nvSpPr>
        <p:spPr>
          <a:xfrm>
            <a:off x="8732520" y="3474720"/>
            <a:ext cx="2907792" cy="1005840"/>
          </a:xfrm>
          <a:prstGeom prst="rect">
            <a:avLst/>
          </a:prstGeom>
          <a:noFill/>
          <a:ln/>
        </p:spPr>
        <p:txBody>
          <a:bodyPr wrap="square" lIns="0" tIns="0" rIns="0" bIns="0" rtlCol="0" anchor="t"/>
          <a:lstStyle/>
          <a:p>
            <a:pPr marL="0" indent="0">
              <a:buNone/>
            </a:pPr>
            <a:r>
              <a:rPr lang="en-US" sz="1400" dirty="0">
                <a:solidFill>
                  <a:schemeClr val="tx2"/>
                </a:solidFill>
              </a:rPr>
              <a:t>It learns the value of its own ε-greedy policy, so ε falls to 10⁻⁵ and α decays to 0.1</a:t>
            </a:r>
            <a:endParaRPr lang="en-US" sz="1400" dirty="0"/>
          </a:p>
        </p:txBody>
      </p:sp>
      <p:sp>
        <p:nvSpPr>
          <p:cNvPr id="10" name="reason-3-badge"/>
          <p:cNvSpPr/>
          <p:nvPr/>
        </p:nvSpPr>
        <p:spPr>
          <a:xfrm>
            <a:off x="8092440" y="4572000"/>
            <a:ext cx="457200" cy="45720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reason-3-head"/>
          <p:cNvSpPr txBox="1"/>
          <p:nvPr/>
        </p:nvSpPr>
        <p:spPr>
          <a:xfrm>
            <a:off x="8732520" y="4572000"/>
            <a:ext cx="2907792" cy="457200"/>
          </a:xfrm>
          <a:prstGeom prst="rect">
            <a:avLst/>
          </a:prstGeom>
          <a:noFill/>
          <a:ln/>
        </p:spPr>
        <p:txBody>
          <a:bodyPr wrap="square" lIns="0" tIns="0" rIns="0" bIns="0" rtlCol="0" anchor="ctr"/>
          <a:lstStyle/>
          <a:p>
            <a:pPr marL="0" indent="0">
              <a:buNone/>
            </a:pPr>
            <a:r>
              <a:rPr lang="en-US" sz="1800" b="1" dirty="0">
                <a:solidFill>
                  <a:schemeClr val="tx1"/>
                </a:solidFill>
              </a:rPr>
              <a:t>MC ES returns are exact</a:t>
            </a:r>
            <a:endParaRPr lang="en-US" sz="1800" dirty="0"/>
          </a:p>
        </p:txBody>
      </p:sp>
      <p:sp>
        <p:nvSpPr>
          <p:cNvPr id="12" name="reason-3-text"/>
          <p:cNvSpPr txBox="1"/>
          <p:nvPr/>
        </p:nvSpPr>
        <p:spPr>
          <a:xfrm>
            <a:off x="8732520" y="5074920"/>
            <a:ext cx="2907792" cy="1005840"/>
          </a:xfrm>
          <a:prstGeom prst="rect">
            <a:avLst/>
          </a:prstGeom>
          <a:noFill/>
          <a:ln/>
        </p:spPr>
        <p:txBody>
          <a:bodyPr wrap="square" lIns="0" tIns="0" rIns="0" bIns="0" rtlCol="0" anchor="t"/>
          <a:lstStyle/>
          <a:p>
            <a:pPr marL="0" indent="0">
              <a:buNone/>
            </a:pPr>
            <a:r>
              <a:rPr lang="en-US" sz="1400" dirty="0">
                <a:solidFill>
                  <a:schemeClr val="tx2"/>
                </a:solidFill>
              </a:rPr>
              <a:t>A greedy policy in a deterministic world gives the true value in one return, so α = 1</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Reward or deadline changes the delivery order</a:t>
            </a:r>
            <a:endParaRPr lang="en-US" sz="3400" dirty="0"/>
          </a:p>
        </p:txBody>
      </p:sp>
      <p:pic>
        <p:nvPicPr>
          <p:cNvPr id="3" name="reward-deadline" descr="S3 under three configurations: the base case delivers C first, late penalty 0 and deadline 35 both deliver A first"/>
          <p:cNvPicPr>
            <a:picLocks noChangeAspect="1"/>
          </p:cNvPicPr>
          <p:nvPr/>
        </p:nvPicPr>
        <p:blipFill>
          <a:blip r:embed="rId3"/>
          <a:stretch>
            <a:fillRect/>
          </a:stretch>
        </p:blipFill>
        <p:spPr>
          <a:xfrm>
            <a:off x="936990" y="1234440"/>
            <a:ext cx="10314970" cy="4160520"/>
          </a:xfrm>
          <a:prstGeom prst="rect">
            <a:avLst/>
          </a:prstGeom>
        </p:spPr>
      </p:pic>
      <p:sp>
        <p:nvSpPr>
          <p:cNvPr id="4" name="reward-caption"/>
          <p:cNvSpPr txBox="1"/>
          <p:nvPr/>
        </p:nvSpPr>
        <p:spPr>
          <a:xfrm>
            <a:off x="548640" y="5623560"/>
            <a:ext cx="11091672" cy="502920"/>
          </a:xfrm>
          <a:prstGeom prst="rect">
            <a:avLst/>
          </a:prstGeom>
          <a:noFill/>
          <a:ln/>
        </p:spPr>
        <p:txBody>
          <a:bodyPr wrap="square" lIns="0" tIns="0" rIns="0" bIns="0" rtlCol="0" anchor="t"/>
          <a:lstStyle/>
          <a:p>
            <a:pPr marL="0" indent="0">
              <a:buNone/>
            </a:pPr>
            <a:r>
              <a:rPr lang="en-US" sz="1700" dirty="0">
                <a:solidFill>
                  <a:schemeClr val="tx2"/>
                </a:solidFill>
              </a:rPr>
              <a:t>Late penalty 30 → 0 or deadline 20 → 45: </a:t>
            </a:r>
            <a:r>
              <a:rPr lang="en-US" sz="1700" b="1" dirty="0">
                <a:solidFill>
                  <a:schemeClr val="tx1"/>
                </a:solidFill>
              </a:rPr>
              <a:t>C→B→A becomes B→A→C, 4 steps shorter</a:t>
            </a:r>
            <a:r>
              <a:rPr lang="en-US" sz="1700" dirty="0">
                <a:solidFill>
                  <a:schemeClr val="tx2"/>
                </a:solidFill>
              </a:rPr>
              <a:t> (5/5 seeds, matching the optimum).</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The booster cell saves 8 steps</a:t>
            </a:r>
            <a:endParaRPr lang="en-US" sz="3400" dirty="0"/>
          </a:p>
        </p:txBody>
      </p:sp>
      <p:pic>
        <p:nvPicPr>
          <p:cNvPr id="3" name="env-booster" descr="S4 with the booster cell: 38 steps, order C B A; without the booster cell: 46 steps, order B C A"/>
          <p:cNvPicPr>
            <a:picLocks noChangeAspect="1"/>
          </p:cNvPicPr>
          <p:nvPr/>
        </p:nvPicPr>
        <p:blipFill>
          <a:blip r:embed="rId3"/>
          <a:stretch>
            <a:fillRect/>
          </a:stretch>
        </p:blipFill>
        <p:spPr>
          <a:xfrm>
            <a:off x="551945" y="1280160"/>
            <a:ext cx="8497309" cy="3703320"/>
          </a:xfrm>
          <a:prstGeom prst="rect">
            <a:avLst/>
          </a:prstGeom>
        </p:spPr>
      </p:pic>
      <p:sp>
        <p:nvSpPr>
          <p:cNvPr id="4" name="booster-caption"/>
          <p:cNvSpPr txBox="1"/>
          <p:nvPr/>
        </p:nvSpPr>
        <p:spPr>
          <a:xfrm>
            <a:off x="548640" y="5260681"/>
            <a:ext cx="8503920" cy="731520"/>
          </a:xfrm>
          <a:prstGeom prst="rect">
            <a:avLst/>
          </a:prstGeom>
          <a:noFill/>
          <a:ln/>
        </p:spPr>
        <p:txBody>
          <a:bodyPr wrap="square" lIns="0" tIns="0" rIns="0" bIns="0" rtlCol="0" anchor="t"/>
          <a:lstStyle/>
          <a:p>
            <a:pPr marL="0" indent="0">
              <a:buNone/>
            </a:pPr>
            <a:r>
              <a:rPr lang="en-US" sz="1700" dirty="0">
                <a:solidFill>
                  <a:schemeClr val="tx2"/>
                </a:solidFill>
              </a:rPr>
              <a:t>Even with the booster, the robot delivers the deadline parcel D first, then detours via the ×2 cell to carry A and B together.</a:t>
            </a:r>
            <a:endParaRPr lang="en-US" sz="1700" dirty="0"/>
          </a:p>
        </p:txBody>
      </p:sp>
      <p:sp>
        <p:nvSpPr>
          <p:cNvPr id="5" name="stat-with-num"/>
          <p:cNvSpPr txBox="1"/>
          <p:nvPr/>
        </p:nvSpPr>
        <p:spPr>
          <a:xfrm>
            <a:off x="9235440" y="1737360"/>
            <a:ext cx="2404872" cy="685800"/>
          </a:xfrm>
          <a:prstGeom prst="rect">
            <a:avLst/>
          </a:prstGeom>
          <a:noFill/>
          <a:ln/>
        </p:spPr>
        <p:txBody>
          <a:bodyPr wrap="square" lIns="0" tIns="0" rIns="0" bIns="0" rtlCol="0" anchor="t"/>
          <a:lstStyle/>
          <a:p>
            <a:pPr marL="0" indent="0">
              <a:buNone/>
            </a:pPr>
            <a:r>
              <a:rPr lang="en-US" sz="4000" b="1" dirty="0">
                <a:solidFill>
                  <a:schemeClr val="accent1"/>
                </a:solidFill>
              </a:rPr>
              <a:t>67 steps</a:t>
            </a:r>
            <a:endParaRPr lang="en-US" sz="4000" dirty="0"/>
          </a:p>
        </p:txBody>
      </p:sp>
      <p:sp>
        <p:nvSpPr>
          <p:cNvPr id="6" name="stat-with-label"/>
          <p:cNvSpPr txBox="1"/>
          <p:nvPr/>
        </p:nvSpPr>
        <p:spPr>
          <a:xfrm>
            <a:off x="9235440" y="2450592"/>
            <a:ext cx="2404872" cy="685800"/>
          </a:xfrm>
          <a:prstGeom prst="rect">
            <a:avLst/>
          </a:prstGeom>
          <a:noFill/>
          <a:ln/>
        </p:spPr>
        <p:txBody>
          <a:bodyPr wrap="square" lIns="0" tIns="0" rIns="0" bIns="0" rtlCol="0" anchor="t"/>
          <a:lstStyle/>
          <a:p>
            <a:pPr marL="0" indent="0">
              <a:buNone/>
            </a:pPr>
            <a:r>
              <a:rPr lang="en-US" sz="1500" dirty="0">
                <a:solidFill>
                  <a:schemeClr val="tx2"/>
                </a:solidFill>
              </a:rPr>
              <a:t>with booster: D→C→B→A</a:t>
            </a:r>
            <a:endParaRPr lang="en-US" sz="1500" dirty="0"/>
          </a:p>
        </p:txBody>
      </p:sp>
      <p:sp>
        <p:nvSpPr>
          <p:cNvPr id="7" name="stat-without-num"/>
          <p:cNvSpPr txBox="1"/>
          <p:nvPr/>
        </p:nvSpPr>
        <p:spPr>
          <a:xfrm>
            <a:off x="9235440" y="3429000"/>
            <a:ext cx="2404872" cy="685800"/>
          </a:xfrm>
          <a:prstGeom prst="rect">
            <a:avLst/>
          </a:prstGeom>
          <a:noFill/>
          <a:ln/>
        </p:spPr>
        <p:txBody>
          <a:bodyPr wrap="square" lIns="0" tIns="0" rIns="0" bIns="0" rtlCol="0" anchor="t"/>
          <a:lstStyle/>
          <a:p>
            <a:pPr marL="0" indent="0">
              <a:buNone/>
            </a:pPr>
            <a:r>
              <a:rPr lang="en-US" sz="4000" b="1" dirty="0">
                <a:solidFill>
                  <a:schemeClr val="tx1"/>
                </a:solidFill>
              </a:rPr>
              <a:t>75 steps</a:t>
            </a:r>
            <a:endParaRPr lang="en-US" sz="4000" dirty="0"/>
          </a:p>
        </p:txBody>
      </p:sp>
      <p:sp>
        <p:nvSpPr>
          <p:cNvPr id="8" name="stat-without-label"/>
          <p:cNvSpPr txBox="1"/>
          <p:nvPr/>
        </p:nvSpPr>
        <p:spPr>
          <a:xfrm>
            <a:off x="9235440" y="4142232"/>
            <a:ext cx="2404872" cy="685800"/>
          </a:xfrm>
          <a:prstGeom prst="rect">
            <a:avLst/>
          </a:prstGeom>
          <a:noFill/>
          <a:ln/>
        </p:spPr>
        <p:txBody>
          <a:bodyPr wrap="square" lIns="0" tIns="0" rIns="0" bIns="0" rtlCol="0" anchor="t"/>
          <a:lstStyle/>
          <a:p>
            <a:pPr marL="0" indent="0">
              <a:buNone/>
            </a:pPr>
            <a:r>
              <a:rPr lang="en-US" sz="1500" dirty="0">
                <a:solidFill>
                  <a:schemeClr val="tx2"/>
                </a:solidFill>
              </a:rPr>
              <a:t>without booster: D→B→C→A</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Demo: one episode with the learned policy</a:t>
            </a:r>
            <a:endParaRPr lang="en-US" sz="3400" dirty="0"/>
          </a:p>
        </p:txBody>
      </p:sp>
      <p:pic>
        <p:nvPicPr>
          <p:cNvPr id="3" name="demo-gif" descr="Animation of the robot following the learned policy on S4 for 38 steps"/>
          <p:cNvPicPr>
            <a:picLocks noChangeAspect="1"/>
          </p:cNvPicPr>
          <p:nvPr/>
        </p:nvPicPr>
        <p:blipFill>
          <a:blip r:embed="rId3"/>
          <a:stretch>
            <a:fillRect/>
          </a:stretch>
        </p:blipFill>
        <p:spPr>
          <a:xfrm>
            <a:off x="548640" y="1234657"/>
            <a:ext cx="4507992" cy="4937324"/>
          </a:xfrm>
          <a:prstGeom prst="rect">
            <a:avLst/>
          </a:prstGeom>
        </p:spPr>
      </p:pic>
      <p:sp>
        <p:nvSpPr>
          <p:cNvPr id="4" name="code-box"/>
          <p:cNvSpPr/>
          <p:nvPr/>
        </p:nvSpPr>
        <p:spPr>
          <a:xfrm>
            <a:off x="5715000" y="1325880"/>
            <a:ext cx="5925312" cy="1920240"/>
          </a:xfrm>
          <a:prstGeom prst="roundRect">
            <a:avLst>
              <a:gd name="adj" fmla="val 5714"/>
            </a:avLst>
          </a:prstGeom>
          <a:solidFill>
            <a:schemeClr val="tx1"/>
          </a:solidFill>
          <a:ln w="12700">
            <a:solidFill>
              <a:schemeClr val="tx1"/>
            </a:solidFill>
            <a:prstDash val="solid"/>
          </a:ln>
        </p:spPr>
        <p:txBody>
          <a:bodyPr/>
          <a:lstStyle/>
          <a:p>
            <a:endParaRPr lang="en-US"/>
          </a:p>
        </p:txBody>
      </p:sp>
      <p:sp>
        <p:nvSpPr>
          <p:cNvPr id="5" name="code"/>
          <p:cNvSpPr txBox="1"/>
          <p:nvPr/>
        </p:nvSpPr>
        <p:spPr>
          <a:xfrm>
            <a:off x="6035040" y="1325880"/>
            <a:ext cx="5394960" cy="1920240"/>
          </a:xfrm>
          <a:prstGeom prst="rect">
            <a:avLst/>
          </a:prstGeom>
          <a:noFill/>
          <a:ln/>
        </p:spPr>
        <p:txBody>
          <a:bodyPr wrap="square" lIns="0" tIns="0" rIns="0" bIns="0" rtlCol="0" anchor="ctr"/>
          <a:lstStyle/>
          <a:p>
            <a:pPr marL="0" indent="0">
              <a:lnSpc>
                <a:spcPct val="115000"/>
              </a:lnSpc>
              <a:buNone/>
            </a:pPr>
            <a:r>
              <a:rPr lang="en-US" sz="1700" dirty="0">
                <a:solidFill>
                  <a:schemeClr val="bg1"/>
                </a:solidFill>
                <a:latin typeface="Courier New" pitchFamily="34" charset="0"/>
                <a:ea typeface="Courier New" pitchFamily="34" charset="-122"/>
                <a:cs typeface="Courier New" pitchFamily="34" charset="-120"/>
              </a:rPr>
              <a:t>python experiments.py</a:t>
            </a:r>
            <a:endParaRPr lang="en-US" sz="1700" dirty="0"/>
          </a:p>
          <a:p>
            <a:pPr marL="0" indent="0">
              <a:lnSpc>
                <a:spcPct val="115000"/>
              </a:lnSpc>
              <a:buNone/>
            </a:pPr>
            <a:r>
              <a:rPr lang="en-US" sz="1700" dirty="0">
                <a:solidFill>
                  <a:schemeClr val="bg1"/>
                </a:solidFill>
                <a:latin typeface="Courier New" pitchFamily="34" charset="0"/>
                <a:ea typeface="Courier New" pitchFamily="34" charset="-122"/>
                <a:cs typeface="Courier New" pitchFamily="34" charset="-120"/>
              </a:rPr>
              <a:t>python plots.py --lang en</a:t>
            </a:r>
            <a:endParaRPr lang="en-US" sz="1700" dirty="0"/>
          </a:p>
          <a:p>
            <a:pPr marL="0" indent="0">
              <a:lnSpc>
                <a:spcPct val="115000"/>
              </a:lnSpc>
              <a:buNone/>
            </a:pPr>
            <a:r>
              <a:rPr lang="en-US" sz="1700" dirty="0">
                <a:solidFill>
                  <a:schemeClr val="bg1"/>
                </a:solidFill>
                <a:latin typeface="Courier New" pitchFamily="34" charset="0"/>
                <a:ea typeface="Courier New" pitchFamily="34" charset="-122"/>
                <a:cs typeface="Courier New" pitchFamily="34" charset="-120"/>
              </a:rPr>
              <a:t>python demo.py --algo sarsa</a:t>
            </a:r>
            <a:endParaRPr lang="en-US" sz="1700" dirty="0"/>
          </a:p>
          <a:p>
            <a:pPr marL="0" indent="0">
              <a:lnSpc>
                <a:spcPct val="115000"/>
              </a:lnSpc>
              <a:buNone/>
            </a:pPr>
            <a:r>
              <a:rPr lang="en-US" sz="1700" dirty="0">
                <a:solidFill>
                  <a:schemeClr val="bg1"/>
                </a:solidFill>
                <a:latin typeface="Courier New" pitchFamily="34" charset="0"/>
                <a:ea typeface="Courier New" pitchFamily="34" charset="-122"/>
                <a:cs typeface="Courier New" pitchFamily="34" charset="-120"/>
              </a:rPr>
              <a:t>python demo.py --gif --lang en</a:t>
            </a:r>
            <a:endParaRPr lang="en-US" sz="1700" dirty="0"/>
          </a:p>
          <a:p>
            <a:pPr marL="0" indent="0">
              <a:lnSpc>
                <a:spcPct val="115000"/>
              </a:lnSpc>
              <a:buNone/>
            </a:pPr>
            <a:r>
              <a:rPr lang="en-US" sz="1700" dirty="0">
                <a:solidFill>
                  <a:schemeClr val="bg1"/>
                </a:solidFill>
                <a:latin typeface="Courier New" pitchFamily="34" charset="0"/>
                <a:ea typeface="Courier New" pitchFamily="34" charset="-122"/>
                <a:cs typeface="Courier New" pitchFamily="34" charset="-120"/>
              </a:rPr>
              <a:t>python failure_cases.py</a:t>
            </a:r>
            <a:endParaRPr lang="en-US" sz="1700" dirty="0"/>
          </a:p>
        </p:txBody>
      </p:sp>
      <p:sp>
        <p:nvSpPr>
          <p:cNvPr id="6" name="demo-list"/>
          <p:cNvSpPr txBox="1"/>
          <p:nvPr/>
        </p:nvSpPr>
        <p:spPr>
          <a:xfrm>
            <a:off x="5715000" y="3520440"/>
            <a:ext cx="5925312"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2"/>
                </a:solidFill>
              </a:rPr>
              <a:t>experiments.py: 5 seeds × 3 algorithms, about 4 minutes on 12 cores</a:t>
            </a:r>
            <a:endParaRPr lang="en-US" sz="1700" dirty="0"/>
          </a:p>
          <a:p>
            <a:pPr marL="342900" indent="-342900">
              <a:spcAft>
                <a:spcPts val="1000"/>
              </a:spcAft>
              <a:buSzPct val="100000"/>
              <a:buChar char="•"/>
            </a:pPr>
            <a:r>
              <a:rPr lang="en-US" sz="1700" dirty="0">
                <a:solidFill>
                  <a:schemeClr val="tx2"/>
                </a:solidFill>
              </a:rPr>
              <a:t>colab_train.ipynb runs the whole pipeline on Google Colab</a:t>
            </a:r>
            <a:endParaRPr lang="en-US" sz="1700" dirty="0"/>
          </a:p>
          <a:p>
            <a:pPr marL="342900" indent="-342900">
              <a:spcAft>
                <a:spcPts val="1000"/>
              </a:spcAft>
              <a:buSzPct val="100000"/>
              <a:buChar char="•"/>
            </a:pPr>
            <a:r>
              <a:rPr lang="en-US" sz="1700" dirty="0">
                <a:solidFill>
                  <a:schemeClr val="tx2"/>
                </a:solidFill>
              </a:rPr>
              <a:t>demo.py prints a text map after every step</a:t>
            </a:r>
            <a:endParaRPr lang="en-US" sz="1700" dirty="0"/>
          </a:p>
          <a:p>
            <a:pPr marL="342900" indent="-342900">
              <a:spcAft>
                <a:spcPts val="1000"/>
              </a:spcAft>
              <a:buSzPct val="100000"/>
              <a:buChar char="•"/>
            </a:pPr>
            <a:r>
              <a:rPr lang="en-US" sz="1700" dirty="0">
                <a:solidFill>
                  <a:schemeClr val="tx2"/>
                </a:solidFill>
              </a:rPr>
              <a:t>Symbols: @ robot · a–d waiting parcels · A–D drop cells · + booster cell</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77724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3" name="finding-1-badge"/>
          <p:cNvSpPr/>
          <p:nvPr/>
        </p:nvSpPr>
        <p:spPr>
          <a:xfrm>
            <a:off x="548640" y="1508760"/>
            <a:ext cx="502920" cy="502920"/>
          </a:xfrm>
          <a:prstGeom prst="ellipse">
            <a:avLst/>
          </a:prstGeom>
          <a:solidFill>
            <a:schemeClr val="accent5"/>
          </a:solidFill>
          <a:ln>
            <a:solidFill>
              <a:schemeClr val="accent5"/>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4" name="finding-1-head"/>
          <p:cNvSpPr txBox="1"/>
          <p:nvPr/>
        </p:nvSpPr>
        <p:spPr>
          <a:xfrm>
            <a:off x="1280160" y="1508760"/>
            <a:ext cx="4663440" cy="502920"/>
          </a:xfrm>
          <a:prstGeom prst="rect">
            <a:avLst/>
          </a:prstGeom>
          <a:noFill/>
          <a:ln/>
        </p:spPr>
        <p:txBody>
          <a:bodyPr wrap="square" lIns="0" tIns="0" rIns="0" bIns="0" rtlCol="0" anchor="ctr"/>
          <a:lstStyle/>
          <a:p>
            <a:pPr marL="0" indent="0">
              <a:buNone/>
            </a:pPr>
            <a:r>
              <a:rPr lang="en-US" sz="2000" b="1" dirty="0">
                <a:solidFill>
                  <a:schemeClr val="bg1"/>
                </a:solidFill>
              </a:rPr>
              <a:t>All three reach the optimum</a:t>
            </a:r>
            <a:endParaRPr lang="en-US" sz="2000" dirty="0"/>
          </a:p>
        </p:txBody>
      </p:sp>
      <p:sp>
        <p:nvSpPr>
          <p:cNvPr id="5" name="finding-1-text"/>
          <p:cNvSpPr txBox="1"/>
          <p:nvPr/>
        </p:nvSpPr>
        <p:spPr>
          <a:xfrm>
            <a:off x="1280160" y="2103120"/>
            <a:ext cx="4663440" cy="914400"/>
          </a:xfrm>
          <a:prstGeom prst="rect">
            <a:avLst/>
          </a:prstGeom>
          <a:noFill/>
          <a:ln/>
        </p:spPr>
        <p:txBody>
          <a:bodyPr wrap="square" lIns="0" tIns="0" rIns="0" bIns="0" rtlCol="0" anchor="t"/>
          <a:lstStyle/>
          <a:p>
            <a:pPr marL="0" indent="0">
              <a:buNone/>
            </a:pPr>
            <a:r>
              <a:rPr lang="en-US" sz="1700" dirty="0">
                <a:solidFill>
                  <a:schemeClr val="bg2"/>
                </a:solidFill>
              </a:rPr>
              <a:t>100% accuracy in 60/60 runs; the Q tables converge to Q*</a:t>
            </a:r>
            <a:endParaRPr lang="en-US" sz="1700" dirty="0"/>
          </a:p>
        </p:txBody>
      </p:sp>
      <p:sp>
        <p:nvSpPr>
          <p:cNvPr id="6" name="finding-2-badge"/>
          <p:cNvSpPr/>
          <p:nvPr/>
        </p:nvSpPr>
        <p:spPr>
          <a:xfrm>
            <a:off x="6245352" y="1508760"/>
            <a:ext cx="502920" cy="502920"/>
          </a:xfrm>
          <a:prstGeom prst="ellipse">
            <a:avLst/>
          </a:prstGeom>
          <a:solidFill>
            <a:schemeClr val="accent5"/>
          </a:solidFill>
          <a:ln>
            <a:solidFill>
              <a:schemeClr val="accent5"/>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7" name="finding-2-head"/>
          <p:cNvSpPr txBox="1"/>
          <p:nvPr/>
        </p:nvSpPr>
        <p:spPr>
          <a:xfrm>
            <a:off x="6976872" y="1508760"/>
            <a:ext cx="4663440" cy="502920"/>
          </a:xfrm>
          <a:prstGeom prst="rect">
            <a:avLst/>
          </a:prstGeom>
          <a:noFill/>
          <a:ln/>
        </p:spPr>
        <p:txBody>
          <a:bodyPr wrap="square" lIns="0" tIns="0" rIns="0" bIns="0" rtlCol="0" anchor="ctr"/>
          <a:lstStyle/>
          <a:p>
            <a:pPr marL="0" indent="0">
              <a:buNone/>
            </a:pPr>
            <a:r>
              <a:rPr lang="en-US" sz="2000" b="1" dirty="0">
                <a:solidFill>
                  <a:schemeClr val="bg1"/>
                </a:solidFill>
              </a:rPr>
              <a:t>Exploration design matters most</a:t>
            </a:r>
            <a:endParaRPr lang="en-US" sz="2000" dirty="0"/>
          </a:p>
        </p:txBody>
      </p:sp>
      <p:sp>
        <p:nvSpPr>
          <p:cNvPr id="8" name="finding-2-text"/>
          <p:cNvSpPr txBox="1"/>
          <p:nvPr/>
        </p:nvSpPr>
        <p:spPr>
          <a:xfrm>
            <a:off x="6976872" y="2103120"/>
            <a:ext cx="4663440" cy="914400"/>
          </a:xfrm>
          <a:prstGeom prst="rect">
            <a:avLst/>
          </a:prstGeom>
          <a:noFill/>
          <a:ln/>
        </p:spPr>
        <p:txBody>
          <a:bodyPr wrap="square" lIns="0" tIns="0" rIns="0" bIns="0" rtlCol="0" anchor="t"/>
          <a:lstStyle/>
          <a:p>
            <a:pPr marL="0" indent="0">
              <a:buNone/>
            </a:pPr>
            <a:r>
              <a:rPr lang="en-US" sz="1700" dirty="0">
                <a:solidFill>
                  <a:schemeClr val="bg2"/>
                </a:solidFill>
              </a:rPr>
              <a:t>Exploring starts + per-algorithm ε: SARSA on S4 goes from 0.4% to 100%</a:t>
            </a:r>
            <a:endParaRPr lang="en-US" sz="1700" dirty="0"/>
          </a:p>
        </p:txBody>
      </p:sp>
      <p:sp>
        <p:nvSpPr>
          <p:cNvPr id="9" name="finding-3-badge"/>
          <p:cNvSpPr/>
          <p:nvPr/>
        </p:nvSpPr>
        <p:spPr>
          <a:xfrm>
            <a:off x="548640" y="3337560"/>
            <a:ext cx="502920" cy="50292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0" name="finding-3-head"/>
          <p:cNvSpPr txBox="1"/>
          <p:nvPr/>
        </p:nvSpPr>
        <p:spPr>
          <a:xfrm>
            <a:off x="1280160" y="3337560"/>
            <a:ext cx="4663440" cy="502920"/>
          </a:xfrm>
          <a:prstGeom prst="rect">
            <a:avLst/>
          </a:prstGeom>
          <a:noFill/>
          <a:ln/>
        </p:spPr>
        <p:txBody>
          <a:bodyPr wrap="square" lIns="0" tIns="0" rIns="0" bIns="0" rtlCol="0" anchor="ctr"/>
          <a:lstStyle/>
          <a:p>
            <a:pPr marL="0" indent="0">
              <a:buNone/>
            </a:pPr>
            <a:r>
              <a:rPr lang="en-US" sz="2000" b="1" dirty="0">
                <a:solidFill>
                  <a:schemeClr val="bg1"/>
                </a:solidFill>
              </a:rPr>
              <a:t>Q-learning learns fastest</a:t>
            </a:r>
            <a:endParaRPr lang="en-US" sz="2000" dirty="0"/>
          </a:p>
        </p:txBody>
      </p:sp>
      <p:sp>
        <p:nvSpPr>
          <p:cNvPr id="11" name="finding-3-text"/>
          <p:cNvSpPr txBox="1"/>
          <p:nvPr/>
        </p:nvSpPr>
        <p:spPr>
          <a:xfrm>
            <a:off x="1280160" y="3931920"/>
            <a:ext cx="4663440" cy="914400"/>
          </a:xfrm>
          <a:prstGeom prst="rect">
            <a:avLst/>
          </a:prstGeom>
          <a:noFill/>
          <a:ln/>
        </p:spPr>
        <p:txBody>
          <a:bodyPr wrap="square" lIns="0" tIns="0" rIns="0" bIns="0" rtlCol="0" anchor="t"/>
          <a:lstStyle/>
          <a:p>
            <a:pPr marL="0" indent="0">
              <a:buNone/>
            </a:pPr>
            <a:r>
              <a:rPr lang="en-US" sz="1700" dirty="0">
                <a:solidFill>
                  <a:schemeClr val="bg2"/>
                </a:solidFill>
              </a:rPr>
              <a:t>Monte Carlo ES is second; SARSA needs about 3× more episodes and is still off in 1.8% of the S4 states</a:t>
            </a:r>
            <a:endParaRPr lang="en-US" sz="1700" dirty="0"/>
          </a:p>
        </p:txBody>
      </p:sp>
      <p:sp>
        <p:nvSpPr>
          <p:cNvPr id="12" name="finding-4-badge"/>
          <p:cNvSpPr/>
          <p:nvPr/>
        </p:nvSpPr>
        <p:spPr>
          <a:xfrm>
            <a:off x="6245352" y="3337560"/>
            <a:ext cx="502920" cy="502920"/>
          </a:xfrm>
          <a:prstGeom prst="ellipse">
            <a:avLst/>
          </a:prstGeom>
          <a:solidFill>
            <a:schemeClr val="accent5"/>
          </a:solidFill>
          <a:ln>
            <a:solidFill>
              <a:schemeClr val="accent5"/>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3" name="finding-4-head"/>
          <p:cNvSpPr txBox="1"/>
          <p:nvPr/>
        </p:nvSpPr>
        <p:spPr>
          <a:xfrm>
            <a:off x="6976872" y="3337560"/>
            <a:ext cx="4663440" cy="502920"/>
          </a:xfrm>
          <a:prstGeom prst="rect">
            <a:avLst/>
          </a:prstGeom>
          <a:noFill/>
          <a:ln/>
        </p:spPr>
        <p:txBody>
          <a:bodyPr wrap="square" lIns="0" tIns="0" rIns="0" bIns="0" rtlCol="0" anchor="ctr"/>
          <a:lstStyle/>
          <a:p>
            <a:pPr marL="0" indent="0">
              <a:buNone/>
            </a:pPr>
            <a:r>
              <a:rPr lang="en-US" sz="2000" b="1" dirty="0">
                <a:solidFill>
                  <a:schemeClr val="bg1"/>
                </a:solidFill>
              </a:rPr>
              <a:t>Rewards shape the order</a:t>
            </a:r>
            <a:endParaRPr lang="en-US" sz="2000" dirty="0"/>
          </a:p>
        </p:txBody>
      </p:sp>
      <p:sp>
        <p:nvSpPr>
          <p:cNvPr id="14" name="finding-4-text"/>
          <p:cNvSpPr txBox="1"/>
          <p:nvPr/>
        </p:nvSpPr>
        <p:spPr>
          <a:xfrm>
            <a:off x="6976872" y="3931920"/>
            <a:ext cx="4663440" cy="914400"/>
          </a:xfrm>
          <a:prstGeom prst="rect">
            <a:avLst/>
          </a:prstGeom>
          <a:noFill/>
          <a:ln/>
        </p:spPr>
        <p:txBody>
          <a:bodyPr wrap="square" lIns="0" tIns="0" rIns="0" bIns="0" rtlCol="0" anchor="t"/>
          <a:lstStyle/>
          <a:p>
            <a:pPr marL="0" indent="0">
              <a:buNone/>
            </a:pPr>
            <a:r>
              <a:rPr lang="en-US" sz="1700" dirty="0">
                <a:solidFill>
                  <a:schemeClr val="bg2"/>
                </a:solidFill>
              </a:rPr>
              <a:t>Late penalty, deadline and booster cell all change the delivery order</a:t>
            </a:r>
            <a:endParaRPr lang="en-US" sz="1700" dirty="0"/>
          </a:p>
        </p:txBody>
      </p:sp>
      <p:sp>
        <p:nvSpPr>
          <p:cNvPr id="15" name="limitations"/>
          <p:cNvSpPr txBox="1"/>
          <p:nvPr/>
        </p:nvSpPr>
        <p:spPr>
          <a:xfrm>
            <a:off x="548640" y="5349240"/>
            <a:ext cx="11091672" cy="640080"/>
          </a:xfrm>
          <a:prstGeom prst="rect">
            <a:avLst/>
          </a:prstGeom>
          <a:noFill/>
          <a:ln/>
        </p:spPr>
        <p:txBody>
          <a:bodyPr wrap="square" lIns="0" tIns="0" rIns="0" bIns="0" rtlCol="0" anchor="t"/>
          <a:lstStyle/>
          <a:p>
            <a:pPr marL="0" indent="0">
              <a:buNone/>
            </a:pPr>
            <a:r>
              <a:rPr lang="en-US" sz="1600" b="1" dirty="0">
                <a:solidFill>
                  <a:schemeClr val="bg1"/>
                </a:solidFill>
              </a:rPr>
              <a:t>Limitations: </a:t>
            </a:r>
            <a:r>
              <a:rPr lang="en-US" sz="1600" dirty="0">
                <a:solidFill>
                  <a:schemeClr val="accent5"/>
                </a:solidFill>
              </a:rPr>
              <a:t>exploring starts need a simulator that can reset to any state; the Q table is relearned for every map; τ grows the state space with the deadline.</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FB8EE"/>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Comparing the three algorithms</a:t>
            </a:r>
            <a:endParaRPr lang="en-US" sz="3400" dirty="0"/>
          </a:p>
        </p:txBody>
      </p:sp>
      <p:sp>
        <p:nvSpPr>
          <p:cNvPr id="6" name="reward-card"/>
          <p:cNvSpPr/>
          <p:nvPr/>
        </p:nvSpPr>
        <p:spPr>
          <a:xfrm>
            <a:off x="548640" y="1280160"/>
            <a:ext cx="11091672" cy="4617720"/>
          </a:xfrm>
          <a:prstGeom prst="roundRect">
            <a:avLst>
              <a:gd name="adj" fmla="val 2609"/>
            </a:avLst>
          </a:prstGeom>
          <a:solidFill>
            <a:schemeClr val="bg2"/>
          </a:solidFill>
          <a:ln w="12700">
            <a:solidFill>
              <a:schemeClr val="bg2"/>
            </a:solidFill>
            <a:prstDash val="solid"/>
          </a:ln>
        </p:spPr>
        <p:txBody>
          <a:bodyPr/>
          <a:lstStyle/>
          <a:p>
            <a:endParaRPr lang="en-US"/>
          </a:p>
        </p:txBody>
      </p:sp>
      <p:graphicFrame>
        <p:nvGraphicFramePr>
          <p:cNvPr id="8" name="reward-table"/>
          <p:cNvGraphicFramePr>
            <a:graphicFrameLocks noGrp="1"/>
          </p:cNvGraphicFramePr>
          <p:nvPr>
            <p:extLst>
              <p:ext uri="{D42A27DB-BD31-4B8C-83A1-F6EECF244321}">
                <p14:modId xmlns:p14="http://schemas.microsoft.com/office/powerpoint/2010/main" val="1579011935"/>
              </p:ext>
            </p:extLst>
          </p:nvPr>
        </p:nvGraphicFramePr>
        <p:xfrm>
          <a:off x="868680" y="1554480"/>
          <a:ext cx="10460736" cy="3429000"/>
        </p:xfrm>
        <a:graphic>
          <a:graphicData uri="http://schemas.openxmlformats.org/drawingml/2006/table">
            <a:tbl>
              <a:tblPr/>
              <a:tblGrid>
                <a:gridCol w="3136392">
                  <a:extLst>
                    <a:ext uri="{9D8B030D-6E8A-4147-A177-3AD203B41FA5}">
                      <a16:colId xmlns:a16="http://schemas.microsoft.com/office/drawing/2014/main" val="20000"/>
                    </a:ext>
                  </a:extLst>
                </a:gridCol>
                <a:gridCol w="2441448">
                  <a:extLst>
                    <a:ext uri="{9D8B030D-6E8A-4147-A177-3AD203B41FA5}">
                      <a16:colId xmlns:a16="http://schemas.microsoft.com/office/drawing/2014/main" val="20001"/>
                    </a:ext>
                  </a:extLst>
                </a:gridCol>
                <a:gridCol w="2441448">
                  <a:extLst>
                    <a:ext uri="{9D8B030D-6E8A-4147-A177-3AD203B41FA5}">
                      <a16:colId xmlns:a16="http://schemas.microsoft.com/office/drawing/2014/main" val="20002"/>
                    </a:ext>
                  </a:extLst>
                </a:gridCol>
                <a:gridCol w="2441448">
                  <a:extLst>
                    <a:ext uri="{9D8B030D-6E8A-4147-A177-3AD203B41FA5}">
                      <a16:colId xmlns:a16="http://schemas.microsoft.com/office/drawing/2014/main" val="20003"/>
                    </a:ext>
                  </a:extLst>
                </a:gridCol>
              </a:tblGrid>
              <a:tr h="381000">
                <a:tc>
                  <a:txBody>
                    <a:bodyPr/>
                    <a:lstStyle/>
                    <a:p>
                      <a:pPr marL="0" indent="0" algn="l">
                        <a:buNone/>
                      </a:pP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Q-learning</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SARSA</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Monte Carlo ES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extLst>
                  <a:ext uri="{0D108BD9-81ED-4DB2-BD59-A6C34878D82A}">
                    <a16:rowId xmlns:a16="http://schemas.microsoft.com/office/drawing/2014/main" val="10000"/>
                  </a:ext>
                </a:extLst>
              </a:tr>
              <a:tr h="381000">
                <a:tc>
                  <a:txBody>
                    <a:bodyPr/>
                    <a:lstStyle/>
                    <a:p>
                      <a:pPr marL="0" indent="0">
                        <a:buNone/>
                      </a:pPr>
                      <a:r>
                        <a:rPr lang="en-US" sz="1400" dirty="0">
                          <a:solidFill>
                            <a:srgbClr val="3D4451"/>
                          </a:solidFill>
                        </a:rPr>
                        <a:t>Update target</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r + γ max Q(s′, ·)</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r + γ Q(s′, a′)</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return G</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1000">
                <a:tc>
                  <a:txBody>
                    <a:bodyPr/>
                    <a:lstStyle/>
                    <a:p>
                      <a:pPr marL="0" indent="0">
                        <a:buNone/>
                      </a:pPr>
                      <a:r>
                        <a:rPr lang="en-US" sz="1400" dirty="0">
                          <a:solidFill>
                            <a:srgbClr val="3D4451"/>
                          </a:solidFill>
                        </a:rPr>
                        <a:t>Learns the value of</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the optimal policy (off-policy)</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its ε-greedy policy (on-policy)</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its greedy policy</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1000">
                <a:tc>
                  <a:txBody>
                    <a:bodyPr/>
                    <a:lstStyle/>
                    <a:p>
                      <a:pPr marL="0" indent="0">
                        <a:buNone/>
                      </a:pPr>
                      <a:r>
                        <a:rPr lang="en-US" sz="1400" dirty="0">
                          <a:solidFill>
                            <a:srgbClr val="3D4451"/>
                          </a:solidFill>
                        </a:rPr>
                        <a:t>Episodes to 100% on S4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1.14 M</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3.57 M</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1.74 M</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1000">
                <a:tc>
                  <a:txBody>
                    <a:bodyPr/>
                    <a:lstStyle/>
                    <a:p>
                      <a:pPr marL="0" indent="0">
                        <a:buNone/>
                      </a:pPr>
                      <a:r>
                        <a:rPr lang="en-US" sz="1400" dirty="0">
                          <a:solidFill>
                            <a:srgbClr val="3D4451"/>
                          </a:solidFill>
                        </a:rPr>
                        <a:t>Mean accuracy while learning (S1 → S4)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0.99 / 0.99 / 0.95 / 0.94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0.77 / 0.77 / 0.60 / 0.48</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0.95 / 0.91 / 0.89 / 0.80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1000">
                <a:tc>
                  <a:txBody>
                    <a:bodyPr/>
                    <a:lstStyle/>
                    <a:p>
                      <a:pPr marL="0" indent="0">
                        <a:buNone/>
                      </a:pPr>
                      <a:r>
                        <a:rPr lang="en-US" sz="1400" dirty="0">
                          <a:solidFill>
                            <a:srgbClr val="3D4451"/>
                          </a:solidFill>
                        </a:rPr>
                        <a:t>Drops below 100% after reaching it</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never</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9–19% of checks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never</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1000">
                <a:tc>
                  <a:txBody>
                    <a:bodyPr/>
                    <a:lstStyle/>
                    <a:p>
                      <a:pPr marL="0" indent="0">
                        <a:buNone/>
                      </a:pPr>
                      <a:r>
                        <a:rPr lang="en-US" sz="1400" dirty="0">
                          <a:solidFill>
                            <a:srgbClr val="3D4451"/>
                          </a:solidFill>
                        </a:rPr>
                        <a:t>Final mean |Q − Q*|</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0.001 – 0.047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1000">
                <a:tc>
                  <a:txBody>
                    <a:bodyPr/>
                    <a:lstStyle/>
                    <a:p>
                      <a:pPr marL="0" indent="0">
                        <a:buNone/>
                      </a:pPr>
                      <a:r>
                        <a:rPr lang="en-US" sz="1400" dirty="0">
                          <a:solidFill>
                            <a:srgbClr val="3D4451"/>
                          </a:solidFill>
                        </a:rPr>
                        <a:t>Wrong if started anywhere (S3 / S4)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 / 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0.3% / 1.8%</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 / 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1000">
                <a:tc>
                  <a:txBody>
                    <a:bodyPr/>
                    <a:lstStyle/>
                    <a:p>
                      <a:pPr marL="0" indent="0">
                        <a:buNone/>
                      </a:pPr>
                      <a:r>
                        <a:rPr lang="en-US" sz="1400" dirty="0">
                          <a:solidFill>
                            <a:srgbClr val="3D4451"/>
                          </a:solidFill>
                        </a:rPr>
                        <a:t>Old settings (S1 → S4)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100 / 97 / 20 / 61%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56 / 52 / 1 / 0.4%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97 / 71 / 0 / 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reward-note"/>
          <p:cNvSpPr txBox="1"/>
          <p:nvPr/>
        </p:nvSpPr>
        <p:spPr>
          <a:xfrm>
            <a:off x="868680" y="5303520"/>
            <a:ext cx="10451592" cy="411480"/>
          </a:xfrm>
          <a:prstGeom prst="rect">
            <a:avLst/>
          </a:prstGeom>
          <a:noFill/>
          <a:ln/>
        </p:spPr>
        <p:txBody>
          <a:bodyPr wrap="square" lIns="0" tIns="0" rIns="0" bIns="0" rtlCol="0" anchor="t"/>
          <a:lstStyle/>
          <a:p>
            <a:pPr marL="0" indent="0">
              <a:buNone/>
            </a:pPr>
            <a:r>
              <a:rPr lang="en-US" sz="1400" dirty="0">
                <a:solidFill>
                  <a:schemeClr val="accent6"/>
                </a:solidFill>
              </a:rPr>
              <a:t>Medians over 5 seeds. Accuracy = % of start cells from which the greedy policy reaches the optimal return.</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S4 values per phase: the deadline becomes a cliff</a:t>
            </a:r>
            <a:endParaRPr lang="en-US" sz="3400" dirty="0"/>
          </a:p>
        </p:txBody>
      </p:sp>
      <p:pic>
        <p:nvPicPr>
          <p:cNvPr id="3" name="value-s4" descr="value_S4_slide.png"/>
          <p:cNvPicPr>
            <a:picLocks noChangeAspect="1"/>
          </p:cNvPicPr>
          <p:nvPr/>
        </p:nvPicPr>
        <p:blipFill>
          <a:blip r:embed="rId3"/>
          <a:stretch>
            <a:fillRect/>
          </a:stretch>
        </p:blipFill>
        <p:spPr>
          <a:xfrm>
            <a:off x="548640" y="1188720"/>
            <a:ext cx="4412347" cy="5029200"/>
          </a:xfrm>
          <a:prstGeom prst="rect">
            <a:avLst/>
          </a:prstGeom>
        </p:spPr>
      </p:pic>
      <p:sp>
        <p:nvSpPr>
          <p:cNvPr id="4" name="value-points"/>
          <p:cNvSpPr txBox="1"/>
          <p:nvPr/>
        </p:nvSpPr>
        <p:spPr>
          <a:xfrm>
            <a:off x="6167934" y="1417320"/>
            <a:ext cx="5472377" cy="356616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600" dirty="0">
                <a:solidFill>
                  <a:schemeClr val="tx2"/>
                </a:solidFill>
              </a:rPr>
              <a:t>Four of the nine phases of the greedy route; the black line is the robot's path</a:t>
            </a:r>
            <a:endParaRPr lang="en-US" sz="1600" dirty="0"/>
          </a:p>
          <a:p>
            <a:pPr marL="342900" indent="-342900">
              <a:spcAft>
                <a:spcPts val="1000"/>
              </a:spcAft>
              <a:buSzPct val="100000"/>
              <a:buFont typeface="+mj-lt"/>
              <a:buAutoNum type="arabicPeriod"/>
            </a:pPr>
            <a:r>
              <a:rPr lang="en-US" sz="1600" dirty="0">
                <a:solidFill>
                  <a:schemeClr val="tx2"/>
                </a:solidFill>
              </a:rPr>
              <a:t>Cells near the current target are darker, so the robot walks toward darker cells</a:t>
            </a:r>
            <a:endParaRPr lang="en-US" sz="1600" dirty="0"/>
          </a:p>
          <a:p>
            <a:pPr marL="342900" indent="-342900">
              <a:spcAft>
                <a:spcPts val="1000"/>
              </a:spcAft>
              <a:buSzPct val="100000"/>
              <a:buFont typeface="+mj-lt"/>
              <a:buAutoNum type="arabicPeriod"/>
            </a:pPr>
            <a:r>
              <a:rPr lang="en-US" sz="1600" dirty="0">
                <a:solidFill>
                  <a:schemeClr val="tx2"/>
                </a:solidFill>
              </a:rPr>
              <a:t>Phase 2 (carrying D, τ = 15): cells far from D's drop fall to about −11, too late for the deadline</a:t>
            </a:r>
            <a:endParaRPr lang="en-US" sz="1600" dirty="0"/>
          </a:p>
          <a:p>
            <a:pPr marL="342900" indent="-342900">
              <a:spcAft>
                <a:spcPts val="1000"/>
              </a:spcAft>
              <a:buSzPct val="100000"/>
              <a:buFont typeface="+mj-lt"/>
              <a:buAutoNum type="arabicPeriod"/>
            </a:pPr>
            <a:r>
              <a:rPr lang="en-US" sz="1600" dirty="0">
                <a:solidFill>
                  <a:schemeClr val="tx2"/>
                </a:solidFill>
              </a:rPr>
              <a:t>Phase 8 (A + B with the booster): the whole map is dark, two +20 rewards are close</a:t>
            </a:r>
            <a:endParaRPr lang="en-US" sz="1600" dirty="0"/>
          </a:p>
        </p:txBody>
      </p:sp>
      <p:sp>
        <p:nvSpPr>
          <p:cNvPr id="5" name="value-result"/>
          <p:cNvSpPr txBox="1"/>
          <p:nvPr/>
        </p:nvSpPr>
        <p:spPr>
          <a:xfrm>
            <a:off x="6167934" y="5120640"/>
            <a:ext cx="5472377" cy="457200"/>
          </a:xfrm>
          <a:prstGeom prst="rect">
            <a:avLst/>
          </a:prstGeom>
          <a:noFill/>
          <a:ln/>
        </p:spPr>
        <p:txBody>
          <a:bodyPr wrap="square" lIns="0" tIns="0" rIns="0" bIns="0" rtlCol="0" anchor="t"/>
          <a:lstStyle/>
          <a:p>
            <a:pPr marL="0" indent="0">
              <a:buNone/>
            </a:pPr>
            <a:r>
              <a:rPr lang="en-US" sz="1800" b="1" dirty="0">
                <a:solidFill>
                  <a:schemeClr val="tx1"/>
                </a:solidFill>
              </a:rPr>
              <a:t>Deadline and booster show up in the values</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7</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Learned values: darker cells promise a higher return</a:t>
            </a:r>
            <a:endParaRPr lang="en-US" sz="3400" dirty="0"/>
          </a:p>
        </p:txBody>
      </p:sp>
      <p:pic>
        <p:nvPicPr>
          <p:cNvPr id="3" name="value-start" descr="value_start.png"/>
          <p:cNvPicPr>
            <a:picLocks noChangeAspect="1"/>
          </p:cNvPicPr>
          <p:nvPr/>
        </p:nvPicPr>
        <p:blipFill>
          <a:blip r:embed="rId3"/>
          <a:stretch>
            <a:fillRect/>
          </a:stretch>
        </p:blipFill>
        <p:spPr>
          <a:xfrm>
            <a:off x="548640" y="1202130"/>
            <a:ext cx="11091672" cy="4316579"/>
          </a:xfrm>
          <a:prstGeom prst="rect">
            <a:avLst/>
          </a:prstGeom>
        </p:spPr>
      </p:pic>
      <p:sp>
        <p:nvSpPr>
          <p:cNvPr id="4" name="value-caption"/>
          <p:cNvSpPr txBox="1"/>
          <p:nvPr/>
        </p:nvSpPr>
        <p:spPr>
          <a:xfrm>
            <a:off x="548640" y="5623560"/>
            <a:ext cx="11091672" cy="502920"/>
          </a:xfrm>
          <a:prstGeom prst="rect">
            <a:avLst/>
          </a:prstGeom>
          <a:noFill/>
          <a:ln/>
        </p:spPr>
        <p:txBody>
          <a:bodyPr wrap="square" lIns="0" tIns="0" rIns="0" bIns="0" rtlCol="0" anchor="t"/>
          <a:lstStyle/>
          <a:p>
            <a:pPr marL="0" indent="0">
              <a:buNone/>
            </a:pPr>
            <a:r>
              <a:rPr lang="en-US" sz="1700" dirty="0">
                <a:solidFill>
                  <a:schemeClr val="tx2"/>
                </a:solidFill>
              </a:rPr>
              <a:t>V(s) = max Q(s, a) when the robot starts in a cell. V at S (13.7 / 17.8 / 8.6 / 2.5) is below the optimal return (18 / 24 / 16 / 13) because γ = 0.99 discounts late rewards.</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9</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Old settings: stuck in loops or late, even from S</a:t>
            </a:r>
            <a:endParaRPr lang="en-US" sz="3400" dirty="0"/>
          </a:p>
        </p:txBody>
      </p:sp>
      <p:pic>
        <p:nvPicPr>
          <p:cNvPr id="3" name="failure-old" descr="failure_old_routes.png"/>
          <p:cNvPicPr>
            <a:picLocks noChangeAspect="1"/>
          </p:cNvPicPr>
          <p:nvPr/>
        </p:nvPicPr>
        <p:blipFill>
          <a:blip r:embed="rId3"/>
          <a:stretch>
            <a:fillRect/>
          </a:stretch>
        </p:blipFill>
        <p:spPr>
          <a:xfrm>
            <a:off x="548640" y="1552881"/>
            <a:ext cx="11091672" cy="3569357"/>
          </a:xfrm>
          <a:prstGeom prst="rect">
            <a:avLst/>
          </a:prstGeom>
        </p:spPr>
      </p:pic>
      <p:sp>
        <p:nvSpPr>
          <p:cNvPr id="4" name="failure-old-caption"/>
          <p:cNvSpPr txBox="1"/>
          <p:nvPr/>
        </p:nvSpPr>
        <p:spPr>
          <a:xfrm>
            <a:off x="548640" y="5623560"/>
            <a:ext cx="11091672" cy="502920"/>
          </a:xfrm>
          <a:prstGeom prst="rect">
            <a:avLst/>
          </a:prstGeom>
          <a:noFill/>
          <a:ln/>
        </p:spPr>
        <p:txBody>
          <a:bodyPr wrap="square" lIns="0" tIns="0" rIns="0" bIns="0" rtlCol="0" anchor="t"/>
          <a:lstStyle/>
          <a:p>
            <a:pPr marL="0" indent="0">
              <a:buNone/>
            </a:pPr>
            <a:r>
              <a:rPr lang="en-US" sz="1700" dirty="0">
                <a:solidFill>
                  <a:schemeClr val="tx2"/>
                </a:solidFill>
              </a:rPr>
              <a:t>Worst run per map from S: the robot bumps into a wall or the edge forever (red frame) or delivers C late. Old Q-learning was still optimal from S.</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9</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Started anywhere: only SARSA still slips a little</a:t>
            </a:r>
            <a:endParaRPr lang="en-US" sz="3400" dirty="0"/>
          </a:p>
        </p:txBody>
      </p:sp>
      <p:pic>
        <p:nvPicPr>
          <p:cNvPr id="3" name="failure-rate" descr="failure_rate.png"/>
          <p:cNvPicPr>
            <a:picLocks noChangeAspect="1"/>
          </p:cNvPicPr>
          <p:nvPr/>
        </p:nvPicPr>
        <p:blipFill>
          <a:blip r:embed="rId3"/>
          <a:stretch>
            <a:fillRect/>
          </a:stretch>
        </p:blipFill>
        <p:spPr>
          <a:xfrm>
            <a:off x="548640" y="1448885"/>
            <a:ext cx="11091672" cy="3777349"/>
          </a:xfrm>
          <a:prstGeom prst="rect">
            <a:avLst/>
          </a:prstGeom>
        </p:spPr>
      </p:pic>
      <p:sp>
        <p:nvSpPr>
          <p:cNvPr id="4" name="failure-rate-caption"/>
          <p:cNvSpPr txBox="1"/>
          <p:nvPr/>
        </p:nvSpPr>
        <p:spPr>
          <a:xfrm>
            <a:off x="548640" y="5623560"/>
            <a:ext cx="11091672" cy="502920"/>
          </a:xfrm>
          <a:prstGeom prst="rect">
            <a:avLst/>
          </a:prstGeom>
          <a:noFill/>
          <a:ln/>
        </p:spPr>
        <p:txBody>
          <a:bodyPr wrap="square" lIns="0" tIns="0" rIns="0" bIns="0" rtlCol="0" anchor="t"/>
          <a:lstStyle/>
          <a:p>
            <a:pPr marL="0" indent="0">
              <a:buNone/>
            </a:pPr>
            <a:r>
              <a:rPr lang="en-US" sz="1700" dirty="0">
                <a:solidFill>
                  <a:schemeClr val="tx2"/>
                </a:solidFill>
              </a:rPr>
              <a:t>Robot put in each of the 184–15,604 reachable states. New settings: Q-learning and MC ES are never wrong; SARSA takes a longer route in 0.3% (S3) and 1.8% (S4).</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9</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SARSA's slip: delivering C early wastes the booster</a:t>
            </a:r>
            <a:endParaRPr lang="en-US" sz="3400" dirty="0"/>
          </a:p>
        </p:txBody>
      </p:sp>
      <p:pic>
        <p:nvPicPr>
          <p:cNvPr id="3" name="failure-sarsa" descr="failure_sarsa_S4_slide.png"/>
          <p:cNvPicPr>
            <a:picLocks noChangeAspect="1"/>
          </p:cNvPicPr>
          <p:nvPr/>
        </p:nvPicPr>
        <p:blipFill>
          <a:blip r:embed="rId3"/>
          <a:stretch>
            <a:fillRect/>
          </a:stretch>
        </p:blipFill>
        <p:spPr>
          <a:xfrm>
            <a:off x="548640" y="1869909"/>
            <a:ext cx="7132320" cy="3529661"/>
          </a:xfrm>
          <a:prstGeom prst="rect">
            <a:avLst/>
          </a:prstGeom>
        </p:spPr>
      </p:pic>
      <p:sp>
        <p:nvSpPr>
          <p:cNvPr id="4" name="stat-code-num"/>
          <p:cNvSpPr txBox="1"/>
          <p:nvPr/>
        </p:nvSpPr>
        <p:spPr>
          <a:xfrm>
            <a:off x="8092440" y="1417320"/>
            <a:ext cx="3547872" cy="685800"/>
          </a:xfrm>
          <a:prstGeom prst="rect">
            <a:avLst/>
          </a:prstGeom>
          <a:noFill/>
          <a:ln/>
        </p:spPr>
        <p:txBody>
          <a:bodyPr wrap="square" lIns="0" tIns="0" rIns="0" bIns="0" rtlCol="0" anchor="t"/>
          <a:lstStyle/>
          <a:p>
            <a:pPr marL="0" indent="0">
              <a:buNone/>
            </a:pPr>
            <a:r>
              <a:rPr lang="en-US" sz="4000" b="1" dirty="0">
                <a:solidFill>
                  <a:schemeClr val="tx1"/>
                </a:solidFill>
              </a:rPr>
              <a:t>17419</a:t>
            </a:r>
            <a:endParaRPr lang="en-US" sz="4000" dirty="0"/>
          </a:p>
        </p:txBody>
      </p:sp>
      <p:sp>
        <p:nvSpPr>
          <p:cNvPr id="5" name="stat-code-label"/>
          <p:cNvSpPr txBox="1"/>
          <p:nvPr/>
        </p:nvSpPr>
        <p:spPr>
          <a:xfrm>
            <a:off x="8092440" y="2130552"/>
            <a:ext cx="3547872" cy="685800"/>
          </a:xfrm>
          <a:prstGeom prst="rect">
            <a:avLst/>
          </a:prstGeom>
          <a:noFill/>
          <a:ln/>
        </p:spPr>
        <p:txBody>
          <a:bodyPr wrap="square" lIns="0" tIns="0" rIns="0" bIns="0" rtlCol="0" anchor="t"/>
          <a:lstStyle/>
          <a:p>
            <a:pPr marL="0" indent="0">
              <a:buNone/>
            </a:pPr>
            <a:r>
              <a:rPr lang="en-US" sz="1500" dirty="0">
                <a:solidFill>
                  <a:schemeClr val="tx2"/>
                </a:solidFill>
              </a:rPr>
              <a:t>state code of the wrong decision (red ring): SARSA takes Drop, optimal is Down</a:t>
            </a:r>
            <a:endParaRPr lang="en-US" sz="1500" dirty="0"/>
          </a:p>
        </p:txBody>
      </p:sp>
      <p:sp>
        <p:nvSpPr>
          <p:cNvPr id="6" name="stat-gap-num"/>
          <p:cNvSpPr txBox="1"/>
          <p:nvPr/>
        </p:nvSpPr>
        <p:spPr>
          <a:xfrm>
            <a:off x="8092440" y="2971800"/>
            <a:ext cx="3547872" cy="685800"/>
          </a:xfrm>
          <a:prstGeom prst="rect">
            <a:avLst/>
          </a:prstGeom>
          <a:noFill/>
          <a:ln/>
        </p:spPr>
        <p:txBody>
          <a:bodyPr wrap="square" lIns="0" tIns="0" rIns="0" bIns="0" rtlCol="0" anchor="t"/>
          <a:lstStyle/>
          <a:p>
            <a:pPr marL="0" indent="0">
              <a:buNone/>
            </a:pPr>
            <a:r>
              <a:rPr lang="en-US" sz="4000" b="1" dirty="0">
                <a:solidFill>
                  <a:schemeClr val="accent1"/>
                </a:solidFill>
              </a:rPr>
              <a:t>0.04</a:t>
            </a:r>
            <a:endParaRPr lang="en-US" sz="4000" dirty="0"/>
          </a:p>
        </p:txBody>
      </p:sp>
      <p:sp>
        <p:nvSpPr>
          <p:cNvPr id="7" name="stat-gap-label"/>
          <p:cNvSpPr txBox="1"/>
          <p:nvPr/>
        </p:nvSpPr>
        <p:spPr>
          <a:xfrm>
            <a:off x="8092440" y="3685032"/>
            <a:ext cx="3547872" cy="685800"/>
          </a:xfrm>
          <a:prstGeom prst="rect">
            <a:avLst/>
          </a:prstGeom>
          <a:noFill/>
          <a:ln/>
        </p:spPr>
        <p:txBody>
          <a:bodyPr wrap="square" lIns="0" tIns="0" rIns="0" bIns="0" rtlCol="0" anchor="t"/>
          <a:lstStyle/>
          <a:p>
            <a:pPr marL="0" indent="0">
              <a:buNone/>
            </a:pPr>
            <a:r>
              <a:rPr lang="en-US" sz="1500" dirty="0">
                <a:solidFill>
                  <a:schemeClr val="tx2"/>
                </a:solidFill>
              </a:rPr>
              <a:t>gap between the two actions in Q*; SARSA's Q error there is 0.12–0.24</a:t>
            </a:r>
            <a:endParaRPr lang="en-US" sz="1500" dirty="0"/>
          </a:p>
        </p:txBody>
      </p:sp>
      <p:sp>
        <p:nvSpPr>
          <p:cNvPr id="8" name="stat-steps-num"/>
          <p:cNvSpPr txBox="1"/>
          <p:nvPr/>
        </p:nvSpPr>
        <p:spPr>
          <a:xfrm>
            <a:off x="8092440" y="4526280"/>
            <a:ext cx="3547872" cy="685800"/>
          </a:xfrm>
          <a:prstGeom prst="rect">
            <a:avLst/>
          </a:prstGeom>
          <a:noFill/>
          <a:ln/>
        </p:spPr>
        <p:txBody>
          <a:bodyPr wrap="square" lIns="0" tIns="0" rIns="0" bIns="0" rtlCol="0" anchor="t"/>
          <a:lstStyle/>
          <a:p>
            <a:pPr marL="0" indent="0">
              <a:buNone/>
            </a:pPr>
            <a:r>
              <a:rPr lang="en-US" sz="4000" b="1" dirty="0">
                <a:solidFill>
                  <a:schemeClr val="accent3"/>
                </a:solidFill>
              </a:rPr>
              <a:t>61 vs 55</a:t>
            </a:r>
            <a:endParaRPr lang="en-US" sz="4000" dirty="0"/>
          </a:p>
        </p:txBody>
      </p:sp>
      <p:sp>
        <p:nvSpPr>
          <p:cNvPr id="9" name="stat-steps-label"/>
          <p:cNvSpPr txBox="1"/>
          <p:nvPr/>
        </p:nvSpPr>
        <p:spPr>
          <a:xfrm>
            <a:off x="8092440" y="5239512"/>
            <a:ext cx="3547872" cy="685800"/>
          </a:xfrm>
          <a:prstGeom prst="rect">
            <a:avLst/>
          </a:prstGeom>
          <a:noFill/>
          <a:ln/>
        </p:spPr>
        <p:txBody>
          <a:bodyPr wrap="square" lIns="0" tIns="0" rIns="0" bIns="0" rtlCol="0" anchor="t"/>
          <a:lstStyle/>
          <a:p>
            <a:pPr marL="0" indent="0">
              <a:buNone/>
            </a:pPr>
            <a:r>
              <a:rPr lang="en-US" sz="1500" dirty="0">
                <a:solidFill>
                  <a:schemeClr val="tx2"/>
                </a:solidFill>
              </a:rPr>
              <a:t>steps from start state 643: SARSA vs optimal</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5</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Where SARSA turns wrong: the state codes</a:t>
            </a:r>
            <a:endParaRPr lang="en-US" sz="3400" dirty="0"/>
          </a:p>
        </p:txBody>
      </p:sp>
      <p:sp>
        <p:nvSpPr>
          <p:cNvPr id="6" name="reward-card"/>
          <p:cNvSpPr/>
          <p:nvPr/>
        </p:nvSpPr>
        <p:spPr>
          <a:xfrm>
            <a:off x="548640" y="1280160"/>
            <a:ext cx="11091672" cy="4617720"/>
          </a:xfrm>
          <a:prstGeom prst="roundRect">
            <a:avLst>
              <a:gd name="adj" fmla="val 2609"/>
            </a:avLst>
          </a:prstGeom>
          <a:solidFill>
            <a:schemeClr val="bg2"/>
          </a:solidFill>
          <a:ln w="12700">
            <a:solidFill>
              <a:schemeClr val="bg2"/>
            </a:solidFill>
            <a:prstDash val="solid"/>
          </a:ln>
        </p:spPr>
        <p:txBody>
          <a:bodyPr/>
          <a:lstStyle/>
          <a:p>
            <a:endParaRPr lang="en-US"/>
          </a:p>
        </p:txBody>
      </p:sp>
      <p:graphicFrame>
        <p:nvGraphicFramePr>
          <p:cNvPr id="8" name="codes-table"/>
          <p:cNvGraphicFramePr>
            <a:graphicFrameLocks noGrp="1"/>
          </p:cNvGraphicFramePr>
          <p:nvPr>
            <p:extLst>
              <p:ext uri="{D42A27DB-BD31-4B8C-83A1-F6EECF244321}">
                <p14:modId xmlns:p14="http://schemas.microsoft.com/office/powerpoint/2010/main" val="1579011935"/>
              </p:ext>
            </p:extLst>
          </p:nvPr>
        </p:nvGraphicFramePr>
        <p:xfrm>
          <a:off x="868680" y="1554480"/>
          <a:ext cx="10452100" cy="3022600"/>
        </p:xfrm>
        <a:graphic>
          <a:graphicData uri="http://schemas.openxmlformats.org/drawingml/2006/table">
            <a:tbl>
              <a:tblPr/>
              <a:tblGrid>
                <a:gridCol w="1206500"/>
                <a:gridCol w="2921000"/>
                <a:gridCol w="1587500"/>
                <a:gridCol w="1905000"/>
                <a:gridCol w="1778000"/>
                <a:gridCol w="1054100"/>
              </a:tblGrid>
              <a:tr h="431800">
                <a:tc>
                  <a:txBody>
                    <a:bodyPr/>
                    <a:lstStyle/>
                    <a:p>
                      <a:pPr marL="0" indent="0" algn="l">
                        <a:buNone/>
                      </a:pPr>
                      <a:r>
                        <a:rPr lang="en-US" sz="1400" b="1" dirty="0">
                          <a:solidFill>
                            <a:schemeClr val="tx1"/>
                          </a:solidFill>
                        </a:rPr>
                        <a:t>State code</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State (row, col, σA–σD, τ, b)</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Wrong states</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SARSA takes (Q*)</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Optimal (Q*)</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c>
                  <a:txBody>
                    <a:bodyPr/>
                    <a:lstStyle/>
                    <a:p>
                      <a:pPr marL="0" indent="0" algn="l">
                        <a:buNone/>
                      </a:pPr>
                      <a:r>
                        <a:rPr lang="en-US" sz="1400" b="1" dirty="0">
                          <a:solidFill>
                            <a:schemeClr val="tx1"/>
                          </a:solidFill>
                        </a:rPr>
                        <a:t>Q* gap</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2E8F1"/>
                    </a:solidFill>
                  </a:tcPr>
                </a:tc>
              </a:tr>
              <a:tr h="431800">
                <a:tc>
                  <a:txBody>
                    <a:bodyPr/>
                    <a:lstStyle/>
                    <a:p>
                      <a:pPr marL="0" indent="0">
                        <a:buNone/>
                      </a:pPr>
                      <a:r>
                        <a:rPr lang="en-US" sz="1400" dirty="0">
                          <a:solidFill>
                            <a:srgbClr val="3D4451"/>
                          </a:solidFill>
                        </a:rPr>
                        <a:t>190921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(4, 2, 0, 1, 1, 0, 22, 1)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109</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(26.73)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Up (26.76)</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1800">
                <a:tc>
                  <a:txBody>
                    <a:bodyPr/>
                    <a:lstStyle/>
                    <a:p>
                      <a:pPr marL="0" indent="0">
                        <a:buNone/>
                      </a:pPr>
                      <a:r>
                        <a:rPr lang="en-US" sz="1400" dirty="0">
                          <a:solidFill>
                            <a:srgbClr val="3D4451"/>
                          </a:solidFill>
                        </a:rPr>
                        <a:t>190915</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(4, 2, 0, 1, 1, 0, 20, 1)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20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(−2.97)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Up (−2.94)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1800">
                <a:tc>
                  <a:txBody>
                    <a:bodyPr/>
                    <a:lstStyle/>
                    <a:p>
                      <a:pPr marL="0" indent="0">
                        <a:buNone/>
                      </a:pPr>
                      <a:r>
                        <a:rPr lang="en-US" sz="1400" dirty="0">
                          <a:solidFill>
                            <a:srgbClr val="3D4451"/>
                          </a:solidFill>
                        </a:rPr>
                        <a:t>190918</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(4, 2, 0, 1, 1, 0, 21, 1)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20</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(−3.27)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Up (−3.24)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1800">
                <a:tc>
                  <a:txBody>
                    <a:bodyPr/>
                    <a:lstStyle/>
                    <a:p>
                      <a:pPr marL="0" indent="0">
                        <a:buNone/>
                      </a:pPr>
                      <a:r>
                        <a:rPr lang="en-US" sz="1400" dirty="0">
                          <a:solidFill>
                            <a:srgbClr val="3D4451"/>
                          </a:solidFill>
                        </a:rPr>
                        <a:t>190909</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(4, 2, 0, 1, 1, 0, 18, 1)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(−2.38)</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Up (−2.35)</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1800">
                <a:tc>
                  <a:txBody>
                    <a:bodyPr/>
                    <a:lstStyle/>
                    <a:p>
                      <a:pPr marL="0" indent="0">
                        <a:buNone/>
                      </a:pPr>
                      <a:r>
                        <a:rPr lang="en-US" sz="1400" dirty="0">
                          <a:solidFill>
                            <a:srgbClr val="3D4451"/>
                          </a:solidFill>
                        </a:rPr>
                        <a:t>190912</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(4, 2, 0, 1, 1, 0, 19, 1)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(−2.68)</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Up (−2.64)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1800">
                <a:tc>
                  <a:txBody>
                    <a:bodyPr/>
                    <a:lstStyle/>
                    <a:p>
                      <a:pPr marL="0" indent="0">
                        <a:buNone/>
                      </a:pPr>
                      <a:r>
                        <a:rPr lang="en-US" sz="1400" dirty="0">
                          <a:solidFill>
                            <a:srgbClr val="3D4451"/>
                          </a:solidFill>
                        </a:rPr>
                        <a:t>17455</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(0, 3, 0, 0, 1, 0, 22, 1)</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15</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Drop (16.93)</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Down (16.97)</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400" dirty="0">
                          <a:solidFill>
                            <a:srgbClr val="3D4451"/>
                          </a:solidFill>
                        </a:rPr>
                        <a:t>0.04</a:t>
                      </a:r>
                      <a:endParaRPr lang="en-US" sz="1400" dirty="0"/>
                    </a:p>
                  </a:txBody>
                  <a:tcPr marL="109728" marR="109728" marT="0" marB="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9" name="codes-note"/>
          <p:cNvSpPr txBox="1"/>
          <p:nvPr/>
        </p:nvSpPr>
        <p:spPr>
          <a:xfrm>
            <a:off x="868680" y="5303520"/>
            <a:ext cx="10451592" cy="411480"/>
          </a:xfrm>
          <a:prstGeom prst="rect">
            <a:avLst/>
          </a:prstGeom>
          <a:noFill/>
          <a:ln/>
        </p:spPr>
        <p:txBody>
          <a:bodyPr wrap="square" lIns="0" tIns="0" rIns="0" bIns="0" rtlCol="0" anchor="t"/>
          <a:lstStyle/>
          <a:p>
            <a:pPr marL="0" indent="0">
              <a:buNone/>
            </a:pPr>
            <a:r>
              <a:rPr lang="en-US" sz="1400" dirty="0">
                <a:solidFill>
                  <a:schemeClr val="accent6"/>
                </a:solidFill>
              </a:rPr>
              <a:t>S4, SARSA seed 0: 301 wrong states come from 39 wrong decisions. Old-settings loops from S: S1 state 0 (2 runs) · S1 state 202 (1 run) · S2 state 817 (1 run) · S4 state 17455 (4 runs). All rows: results/failure_states.csv</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State code: one integer per state</a:t>
            </a:r>
            <a:endParaRPr lang="en-US" sz="3400" dirty="0"/>
          </a:p>
        </p:txBody>
      </p:sp>
      <p:sp>
        <p:nvSpPr>
          <p:cNvPr id="4" name="encode-box"/>
          <p:cNvSpPr/>
          <p:nvPr/>
        </p:nvSpPr>
        <p:spPr>
          <a:xfrm>
            <a:off x="548640" y="1234440"/>
            <a:ext cx="6537960" cy="4800600"/>
          </a:xfrm>
          <a:prstGeom prst="roundRect">
            <a:avLst>
              <a:gd name="adj" fmla="val 5714"/>
            </a:avLst>
          </a:prstGeom>
          <a:solidFill>
            <a:schemeClr val="tx1"/>
          </a:solidFill>
          <a:ln w="12700">
            <a:solidFill>
              <a:schemeClr val="tx1"/>
            </a:solidFill>
            <a:prstDash val="solid"/>
          </a:ln>
        </p:spPr>
        <p:txBody>
          <a:bodyPr/>
          <a:lstStyle/>
          <a:p>
            <a:endParaRPr lang="en-US"/>
          </a:p>
        </p:txBody>
      </p:sp>
      <p:sp>
        <p:nvSpPr>
          <p:cNvPr id="5" name="encode-code"/>
          <p:cNvSpPr txBox="1"/>
          <p:nvPr/>
        </p:nvSpPr>
        <p:spPr>
          <a:xfrm>
            <a:off x="731520" y="1325880"/>
            <a:ext cx="6263640" cy="4617720"/>
          </a:xfrm>
          <a:prstGeom prst="rect">
            <a:avLst/>
          </a:prstGeom>
          <a:noFill/>
          <a:ln/>
        </p:spPr>
        <p:txBody>
          <a:bodyPr wrap="square" lIns="0" tIns="0" rIns="0" bIns="0" rtlCol="0" anchor="ctr"/>
          <a:lstStyle/>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def encode(self, state):        # delivery_env.py</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r, c, status, tau, boost = state</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code = 0</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for i, s in enumerate(status):</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code += s * 3 ** i      # parcels: base 3</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 r * self.W + c        # cell</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 idx * self.n_codes + code</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 idx * self.n_tau + tau</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 idx * self.n_boost + boost</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return idx                  # = row of Q</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def decode(self, idx):          # the reverse</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boost = divmod(idx, self.n_boost)</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idx, tau = divmod(idx, self.n_tau)</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pos, code = divmod(idx, self.n_codes)</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r, c = divmod(pos, self.W)</a:t>
            </a:r>
            <a:endParaRPr lang="en-US" sz="1300" dirty="0"/>
          </a:p>
          <a:p>
            <a:pPr marL="0" indent="0">
              <a:lnSpc>
                <a:spcPct val="115000"/>
              </a:lnSpc>
              <a:buNone/>
            </a:pPr>
            <a:r>
              <a:rPr lang="en-US" sz="1300" dirty="0">
                <a:solidFill>
                  <a:schemeClr val="bg1"/>
                </a:solidFill>
                <a:latin typeface="Courier New" pitchFamily="34" charset="0"/>
                <a:ea typeface="Courier New" pitchFamily="34" charset="-122"/>
                <a:cs typeface="Courier New" pitchFamily="34" charset="-120"/>
              </a:rPr>
              <a:t>    ...                         # code -&gt; σ digits</a:t>
            </a:r>
            <a:endParaRPr lang="en-US" sz="1300" dirty="0"/>
          </a:p>
        </p:txBody>
      </p:sp>
      <p:sp>
        <p:nvSpPr>
          <p:cNvPr id="6" name="encode-points"/>
          <p:cNvSpPr txBox="1"/>
          <p:nvPr/>
        </p:nvSpPr>
        <p:spPr>
          <a:xfrm>
            <a:off x="7360920" y="1234440"/>
            <a:ext cx="4297680" cy="4800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State s = (row, col, σA…σD, τ, b) → encode() packs it into one integer, the state code</a:t>
            </a:r>
            <a:endParaRPr lang="en-US" sz="1500" dirty="0"/>
          </a:p>
          <a:p>
            <a:pPr marL="342900" indent="-342900">
              <a:spcAft>
                <a:spcPts val="1000"/>
              </a:spcAft>
              <a:buSzPct val="100000"/>
              <a:buChar char="•"/>
            </a:pPr>
            <a:r>
              <a:rPr lang="en-US" sz="1500" dirty="0">
                <a:solidFill>
                  <a:schemeClr val="tx2"/>
                </a:solidFill>
              </a:rPr>
              <a:t>S4: idx = (((8·row + col)·81 + Σ σᵢ·3ⁱ⁻¹)·23 + τ)·3 + b</a:t>
            </a:r>
            <a:endParaRPr lang="en-US" sz="1500" dirty="0"/>
          </a:p>
          <a:p>
            <a:pPr marL="342900" indent="-342900">
              <a:spcAft>
                <a:spcPts val="1000"/>
              </a:spcAft>
              <a:buSzPct val="100000"/>
              <a:buChar char="•"/>
            </a:pPr>
            <a:r>
              <a:rPr lang="en-US" sz="1500" dirty="0">
                <a:solidFill>
                  <a:schemeClr val="tx2"/>
                </a:solidFill>
              </a:rPr>
              <a:t>17419 → (0, 3, 0, 0, 1, 0, 10, 1): C's drop cell, carrying C, τ = 10, booster on</a:t>
            </a:r>
            <a:endParaRPr lang="en-US" sz="1500" dirty="0"/>
          </a:p>
          <a:p>
            <a:pPr marL="342900" indent="-342900">
              <a:spcAft>
                <a:spcPts val="1000"/>
              </a:spcAft>
              <a:buSzPct val="100000"/>
              <a:buChar char="•"/>
            </a:pPr>
            <a:r>
              <a:rPr lang="en-US" sz="1500" dirty="0">
                <a:solidFill>
                  <a:schemeClr val="tx2"/>
                </a:solidFill>
              </a:rPr>
              <a:t>Row 17419 of Q: Drop −10.05 &gt; Down −10.13, but Q* prefers Down (−9.89 vs −9.93)</a:t>
            </a:r>
            <a:endParaRPr lang="en-US" sz="1500" dirty="0"/>
          </a:p>
          <a:p>
            <a:pPr marL="342900" indent="-342900">
              <a:spcAft>
                <a:spcPts val="1000"/>
              </a:spcAft>
              <a:buSzPct val="100000"/>
              <a:buChar char="•"/>
            </a:pPr>
            <a:r>
              <a:rPr lang="en-US" sz="1500" dirty="0">
                <a:solidFill>
                  <a:schemeClr val="tx2"/>
                </a:solidFill>
              </a:rPr>
              <a:t>failure_cases.py writes every wrong state and its wrong decision, by state code, to results/failure_states.csv</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11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App: train live and control the robot</a:t>
            </a:r>
            <a:endParaRPr lang="en-US" sz="3400" dirty="0"/>
          </a:p>
        </p:txBody>
      </p:sp>
      <p:pic>
        <p:nvPicPr>
          <p:cNvPr id="3" name="app-screenshot" descr="app_screenshot.png"/>
          <p:cNvPicPr>
            <a:picLocks noChangeAspect="1"/>
          </p:cNvPicPr>
          <p:nvPr/>
        </p:nvPicPr>
        <p:blipFill>
          <a:blip r:embed="rId3"/>
          <a:stretch>
            <a:fillRect/>
          </a:stretch>
        </p:blipFill>
        <p:spPr>
          <a:xfrm>
            <a:off x="548640" y="1205943"/>
            <a:ext cx="7360920" cy="4537553"/>
          </a:xfrm>
          <a:prstGeom prst="rect">
            <a:avLst/>
          </a:prstGeom>
        </p:spPr>
      </p:pic>
      <p:sp>
        <p:nvSpPr>
          <p:cNvPr id="4" name="app-code-box"/>
          <p:cNvSpPr/>
          <p:nvPr/>
        </p:nvSpPr>
        <p:spPr>
          <a:xfrm>
            <a:off x="8183879" y="1234440"/>
            <a:ext cx="3474720" cy="566928"/>
          </a:xfrm>
          <a:prstGeom prst="roundRect">
            <a:avLst>
              <a:gd name="adj" fmla="val 5714"/>
            </a:avLst>
          </a:prstGeom>
          <a:solidFill>
            <a:schemeClr val="tx1"/>
          </a:solidFill>
          <a:ln w="12700">
            <a:solidFill>
              <a:schemeClr val="tx1"/>
            </a:solidFill>
            <a:prstDash val="solid"/>
          </a:ln>
        </p:spPr>
        <p:txBody>
          <a:bodyPr/>
          <a:lstStyle/>
          <a:p>
            <a:endParaRPr lang="en-US"/>
          </a:p>
        </p:txBody>
      </p:sp>
      <p:sp>
        <p:nvSpPr>
          <p:cNvPr id="5" name="app-code"/>
          <p:cNvSpPr txBox="1"/>
          <p:nvPr/>
        </p:nvSpPr>
        <p:spPr>
          <a:xfrm>
            <a:off x="8366760" y="1234440"/>
            <a:ext cx="3200400" cy="566928"/>
          </a:xfrm>
          <a:prstGeom prst="rect">
            <a:avLst/>
          </a:prstGeom>
          <a:noFill/>
          <a:ln/>
        </p:spPr>
        <p:txBody>
          <a:bodyPr wrap="square" lIns="0" tIns="0" rIns="0" bIns="0" rtlCol="0" anchor="ctr"/>
          <a:lstStyle/>
          <a:p>
            <a:pPr marL="0" indent="0">
              <a:lnSpc>
                <a:spcPct val="115000"/>
              </a:lnSpc>
              <a:buNone/>
            </a:pPr>
            <a:r>
              <a:rPr lang="en-US" sz="1500" dirty="0">
                <a:solidFill>
                  <a:schemeClr val="bg1"/>
                </a:solidFill>
                <a:latin typeface="Courier New" pitchFamily="34" charset="0"/>
                <a:ea typeface="Courier New" pitchFamily="34" charset="-122"/>
                <a:cs typeface="Courier New" pitchFamily="34" charset="-120"/>
              </a:rPr>
              <a:t>python app.py --lang en</a:t>
            </a:r>
            <a:endParaRPr lang="en-US" sz="1500" dirty="0"/>
          </a:p>
        </p:txBody>
      </p:sp>
      <p:sp>
        <p:nvSpPr>
          <p:cNvPr id="6" name="app-features"/>
          <p:cNvSpPr txBox="1"/>
          <p:nvPr/>
        </p:nvSpPr>
        <p:spPr>
          <a:xfrm>
            <a:off x="8183879" y="1965960"/>
            <a:ext cx="3520440" cy="4069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Train any map, algorithm and setting; pause, stop, or slow down to one episode per update</a:t>
            </a:r>
            <a:endParaRPr lang="en-US" sz="1400" dirty="0"/>
          </a:p>
          <a:p>
            <a:pPr marL="342900" indent="-342900">
              <a:spcAft>
                <a:spcPts val="1000"/>
              </a:spcAft>
              <a:buSzPct val="100000"/>
              <a:buChar char="•"/>
            </a:pPr>
            <a:r>
              <a:rPr lang="en-US" sz="1400" dirty="0">
                <a:solidFill>
                  <a:schemeClr val="tx2"/>
                </a:solidFill>
              </a:rPr>
              <a:t>Map and curves update live from the shared Q table; same seed = same Q as experiments.py</a:t>
            </a:r>
            <a:endParaRPr lang="en-US" sz="1400" dirty="0"/>
          </a:p>
          <a:p>
            <a:pPr marL="342900" indent="-342900">
              <a:spcAft>
                <a:spcPts val="1000"/>
              </a:spcAft>
              <a:buSzPct val="100000"/>
              <a:buChar char="•"/>
            </a:pPr>
            <a:r>
              <a:rPr lang="en-US" sz="1400" dirty="0">
                <a:solidFill>
                  <a:schemeClr val="tx2"/>
                </a:solidFill>
              </a:rPr>
              <a:t>Drive the robot (W/A/S/D, J, K) or let the agent step / run</a:t>
            </a:r>
            <a:endParaRPr lang="en-US" sz="1400" dirty="0"/>
          </a:p>
          <a:p>
            <a:pPr marL="342900" indent="-342900">
              <a:spcAft>
                <a:spcPts val="1000"/>
              </a:spcAft>
              <a:buSzPct val="100000"/>
              <a:buChar char="•"/>
            </a:pPr>
            <a:r>
              <a:rPr lang="en-US" sz="1400" dirty="0">
                <a:solidFill>
                  <a:schemeClr val="tx2"/>
                </a:solidFill>
              </a:rPr>
              <a:t>Click a cell or type a state code to start anywhere</a:t>
            </a:r>
            <a:endParaRPr lang="en-US" sz="1400" dirty="0"/>
          </a:p>
          <a:p>
            <a:pPr marL="342900" indent="-342900">
              <a:spcAft>
                <a:spcPts val="1000"/>
              </a:spcAft>
              <a:buSzPct val="100000"/>
              <a:buChar char="•"/>
            </a:pPr>
            <a:r>
              <a:rPr lang="en-US" sz="1400" dirty="0">
                <a:solidFill>
                  <a:schemeClr val="tx2"/>
                </a:solidFill>
              </a:rPr>
              <a:t>Overlays: policy, value V, wrong vs Q*; the Q / Q* table flags wrong decisions</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37B89"/>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Multi-Delivery Robot">
  <a:themeElements>
    <a:clrScheme name="Multi-Delivery Robot">
      <a:dk1>
        <a:srgbClr val="14213D"/>
      </a:dk1>
      <a:lt1>
        <a:srgbClr val="FFFFFF"/>
      </a:lt1>
      <a:dk2>
        <a:srgbClr val="3D4451"/>
      </a:dk2>
      <a:lt2>
        <a:srgbClr val="F1F4F9"/>
      </a:lt2>
      <a:accent1>
        <a:srgbClr val="2A78D6"/>
      </a:accent1>
      <a:accent2>
        <a:srgbClr val="EB6834"/>
      </a:accent2>
      <a:accent3>
        <a:srgbClr val="1BAF7A"/>
      </a:accent3>
      <a:accent4>
        <a:srgbClr val="EDA100"/>
      </a:accent4>
      <a:accent5>
        <a:srgbClr val="8FB8EE"/>
      </a:accent5>
      <a:accent6>
        <a:srgbClr val="737B89"/>
      </a:accent6>
      <a:hlink>
        <a:srgbClr val="1F5FAE"/>
      </a:hlink>
      <a:folHlink>
        <a:srgbClr val="6250D6"/>
      </a:folHlink>
    </a:clrScheme>
    <a:fontScheme name="Multi-Delivery Robo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1723</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Multi-Delivery Robot</vt:lpstr>
      <vt:lpstr>Multi-Delivery Robot</vt:lpstr>
      <vt:lpstr>The task: deliver parcels in a learned order</vt:lpstr>
      <vt:lpstr>Four settings of increasing difficulty</vt:lpstr>
      <vt:lpstr>Two tabular algorithms</vt:lpstr>
      <vt:lpstr>Learning curves: Q-learning reaches the optimum</vt:lpstr>
      <vt:lpstr>Final results: Q-learning optimal in 20/20 runs</vt:lpstr>
      <vt:lpstr>S4 policy: the agent finds the booster cell</vt:lpstr>
      <vt:lpstr>Why does Monte Carlo fail?</vt:lpstr>
      <vt:lpstr>Reward or deadline changes the delivery order</vt:lpstr>
      <vt:lpstr>The booster cell saves 8 steps</vt:lpstr>
      <vt:lpstr>Demo: one episode with the learned policy</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Multi-Delivery Robot – Q-learning and Monte Carlo</dc:title>
  <dc:subject>PptxGenJS Presentation</dc:subject>
  <dc:creator>Nguyen Quang Trung</dc:creator>
  <cp:lastModifiedBy>Nguyen Quang Trung</cp:lastModifiedBy>
  <cp:revision>2</cp:revision>
  <dcterms:created xsi:type="dcterms:W3CDTF">2026-10-14T04:43:40Z</dcterms:created>
  <dcterms:modified xsi:type="dcterms:W3CDTF">2026-10-15T04:59:42Z</dcterms:modified>
</cp:coreProperties>
</file>