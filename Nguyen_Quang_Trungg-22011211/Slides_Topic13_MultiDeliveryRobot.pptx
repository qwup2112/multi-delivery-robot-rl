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MDP" id="{6ebb974e-eeee-d71c-cd58-e7588f5a99bd}">
          <p14:sldIdLst>
            <p14:sldId id="256"/>
            <p14:sldId id="257"/>
            <p14:sldId id="258"/>
            <p14:sldId id="259"/>
          </p14:sldIdLst>
        </p14:section>
        <p14:section name="Algorithms and results" id="{0d629ff2-8c30-38fd-d0bd-76c88ae21564}">
          <p14:sldIdLst>
            <p14:sldId id="260"/>
            <p14:sldId id="261"/>
            <p14:sldId id="262"/>
            <p14:sldId id="263"/>
          </p14:sldIdLst>
        </p14:section>
        <p14:section name="Failure analysis and experiments" id="{561e9c66-9a4d-8cf0-7d7d-a724f2569bbc}">
          <p14:sldIdLst>
            <p14:sldId id="264"/>
            <p14:sldId id="265"/>
            <p14:sldId id="266"/>
          </p14:sldIdLst>
        </p14:section>
        <p14:section name="Demo and conclusion" id="{10c083dc-cef1-d286-28c6-042c83149f2c}">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topic: a robot on a grid has to deliver several parcels, and the agent learns the pickup and delivery order by itself. The environment is a custom gymnasium environment following the Taxi logic, and the agent uses a Q table, with no neural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only knows its position and the parcel statuses. The −1 step penalty pushes the agent toward short routes; +20 per delivered order is the per-order reward; −10 punishes wrong actions; −30 only exists in the deadline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mandatory settings. S1: two independent parcels that can be carried together. S2: three parcels but only one can be carried. S3: parcel C must be delivered within the first 18 steps. S4: after the booster cell the robot can carry two parcels, for one trip only. The optimal step counts come from Value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parcel statuses are read as a base-3 number. Example on S3: the robot is at (2,3), A is delivered, B is carried, C is not picked up and tau = 7, so code = 5 and idx = 7797. Fewer states are reachable than encoded because walls cannot be occupied, capacity 1 rules out carrying two parcels, and tau and b only take reachable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Q-learning example: Q = 0, r = −1, max Q(s′) = 10 and alpha = 0.5 give a target of 8.9 and a new Q of 4.45. Monte Carlo example: the last three rewards −1, −1, +19 give G = 19, 17.81 and 16.63. Q0 = 30 is an optimistic initialization that makes the agent try unknown actions by itself. Value Iteration is only used as the optimal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the return of the greedy policy run from cell S, averaged over 5 seeds; the shaded band is the standard deviation. The horizontal line is the optimal return from Value Iteration. The y-axis is cut at −1.15 × max_steps to show the region near the optimum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runs = 4 maps × 5 seeds. Q-learning with Q0 = 30 is optimal in all 20. Q0 = 0 delivers everything in 20/20 runs but gets stuck on worse routes on S1 (16 instead of 18), S3 (2/5 optimal) and S4 (21 instead of 22). Monte Carlo with the same episodes: S1 5/5, S2 2/5, S3 5/5 but always late, S4 0/5. Episodes: S1 20,000, S2 40,000, S3 and S4 100,000.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panel is one phase: a combination of parcel statuses and booster status. Grey arrows show the action the policy would choose if the robot stood in that cell; P and D mean Pickup and Drop. The black line is when the robot carries two parcels. The agent exploits the rule that a booster trip only ends when the robot is empty-handed. The S2 policy figure is in figures_en/policy_S2.png.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Q-learning does not have these problems: its target r + gamma max Q(s′) is noise-free in a deterministic environment, and every delivered parcel propagates +20 back immediately through bootstrapping. Measured on S1: at the pickup cell of parcel A, the MC Q values were between −72 and −108 while the true values are +16 to +18. With 4 times the episodes and slower epsilon decay, MC is optimal in 5/5 seeds on S1 but only 3/5 on S2, so this is slow and unstable convergence, not an implementation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being late costs nothing, going A then B then C is 9 steps shorter, so the agent stops prioritising parcel C and accepts being late. With a 35-step deadline, delivering C last is still on time, so the agent also switches to A-B-C. In the first run (Q0 = 0, 80,000 episodes) the agent did not switch because the reachable states grew from 2,825 to 8,210; with Q0 = 30 and 200,000 episodes it switched in all 5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configurations learn the optimal route in 5/5 seeds. With the booster cell, the robot accepts a 2-step detour to turn it on, then carries two parcels at once and also changes the delivery order. The circled numbers in the figure give the order of the pickup and drop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demo.py during the talk: it loads the learned Q table from results/, runs the greedy policy from cell S and prints every step with its action, reward and event. On S4 the robot finishes at step 38 with return 22. Add --config to choose another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four findings, then the limitations. Future work: try Sarsa or Q(lambda), Monte Carlo with a constant step size and optimistic initialization, and keep tau only while the deadline parcel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234440"/>
            <a:ext cx="6766560" cy="457200"/>
          </a:xfrm>
          <a:prstGeom prst="rect">
            <a:avLst/>
          </a:prstGeom>
          <a:noFill/>
          <a:ln/>
        </p:spPr>
        <p:txBody>
          <a:bodyPr wrap="square" rtlCol="0"/>
          <a:lstStyle>
            <a:lvl1pPr indent="0" marL="0">
              <a:buNone/>
              <a:defRPr lang="en-US" sz="1600" b="1" spc="300" kern="0" dirty="0">
                <a:solidFill>
                  <a:schemeClr val="accent5"/>
                </a:solidFill>
              </a:defRPr>
            </a:lvl1pPr>
          </a:lstStyle>
          <a:p>
            <a:pPr indent="0" marL="0">
              <a:buNone/>
            </a:pPr>
            <a:endParaRPr lang="en-US" sz="1600" dirty="0"/>
          </a:p>
        </p:txBody>
      </p:sp>
      <p:sp>
        <p:nvSpPr>
          <p:cNvPr id="3" name="Text 0"/>
          <p:cNvSpPr/>
          <p:nvPr>
            <p:ph idx="101" type="title" hasCustomPrompt="1"/>
          </p:nvPr>
        </p:nvSpPr>
        <p:spPr>
          <a:xfrm>
            <a:off x="731520" y="1783080"/>
            <a:ext cx="676656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731520" y="3108960"/>
            <a:ext cx="6583680" cy="109728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5" name="Text 0"/>
          <p:cNvSpPr/>
          <p:nvPr>
            <p:ph idx="103" type="body" hasCustomPrompt="1"/>
          </p:nvPr>
        </p:nvSpPr>
        <p:spPr>
          <a:xfrm>
            <a:off x="731520" y="4572000"/>
            <a:ext cx="6583680" cy="109728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chemeClr val="accent6"/>
                </a:solidFill>
              </a:rPr>
              <a:t>Topic 13 · Multi-Delivery Robot</a:t>
            </a:r>
            <a:endParaRPr lang="en-US" sz="11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chemeClr val="accent5"/>
                </a:solidFill>
              </a:rPr>
              <a:t>Topic 13 · Multi-Delivery Robot</a:t>
            </a:r>
            <a:endParaRPr lang="en-US" sz="11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FB8E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234440"/>
            <a:ext cx="6766560" cy="457200"/>
          </a:xfrm>
          <a:prstGeom prst="rect">
            <a:avLst/>
          </a:prstGeom>
          <a:noFill/>
          <a:ln/>
        </p:spPr>
        <p:txBody>
          <a:bodyPr wrap="square" lIns="0" tIns="0" rIns="0" bIns="0" rtlCol="0"/>
          <a:lstStyle/>
          <a:p>
            <a:pPr indent="0" marL="0">
              <a:buNone/>
            </a:pPr>
            <a:r>
              <a:rPr lang="en-US" sz="1600" b="1" spc="300" kern="0" dirty="0">
                <a:solidFill>
                  <a:schemeClr val="accent5"/>
                </a:solidFill>
              </a:rPr>
              <a:t>TOPIC 13 · REINFORCEMENT LEARNING</a:t>
            </a:r>
            <a:endParaRPr lang="en-US" sz="1600" dirty="0"/>
          </a:p>
        </p:txBody>
      </p:sp>
      <p:sp>
        <p:nvSpPr>
          <p:cNvPr id="3" name="Text 0"/>
          <p:cNvSpPr/>
          <p:nvPr>
            <p:ph idx="101" type="title" hasCustomPrompt="1"/>
          </p:nvPr>
        </p:nvSpPr>
        <p:spPr>
          <a:xfrm>
            <a:off x="731520" y="1783080"/>
            <a:ext cx="6766560" cy="1188720"/>
          </a:xfrm>
          <a:prstGeom prst="rect">
            <a:avLst/>
          </a:prstGeom>
          <a:noFill/>
          <a:ln/>
        </p:spPr>
        <p:txBody>
          <a:bodyPr wrap="square" lIns="0" tIns="0" rIns="0" bIns="0" rtlCol="0" anchor="ctr"/>
          <a:lstStyle/>
          <a:p>
            <a:pPr algn="l" indent="0" marL="0">
              <a:buNone/>
            </a:pPr>
            <a:r>
              <a:rPr lang="en-US" sz="5400" b="1" dirty="0">
                <a:solidFill>
                  <a:schemeClr val="bg1"/>
                </a:solidFill>
              </a:rPr>
              <a:t>Multi-Delivery Robot</a:t>
            </a:r>
            <a:endParaRPr lang="en-US" sz="5400" dirty="0"/>
          </a:p>
        </p:txBody>
      </p:sp>
      <p:sp>
        <p:nvSpPr>
          <p:cNvPr id="4" name="Text 0"/>
          <p:cNvSpPr/>
          <p:nvPr>
            <p:ph idx="102" type="body" hasCustomPrompt="1"/>
          </p:nvPr>
        </p:nvSpPr>
        <p:spPr>
          <a:xfrm>
            <a:off x="731520" y="3108960"/>
            <a:ext cx="6583680" cy="1097280"/>
          </a:xfrm>
          <a:prstGeom prst="rect">
            <a:avLst/>
          </a:prstGeom>
          <a:noFill/>
          <a:ln/>
        </p:spPr>
        <p:txBody>
          <a:bodyPr wrap="square" lIns="0" tIns="0" rIns="0" bIns="0" rtlCol="0" anchor="t"/>
          <a:lstStyle/>
          <a:p>
            <a:pPr indent="0" marL="0">
              <a:buNone/>
            </a:pPr>
            <a:r>
              <a:rPr lang="en-US" sz="2200" dirty="0">
                <a:solidFill>
                  <a:schemeClr val="bg2"/>
                </a:solidFill>
              </a:rPr>
              <a:t>A robot that learns its own pickup and delivery order with tabular Q-learning and Monte Carlo</a:t>
            </a:r>
            <a:endParaRPr lang="en-US" sz="2200" dirty="0"/>
          </a:p>
        </p:txBody>
      </p:sp>
      <p:sp>
        <p:nvSpPr>
          <p:cNvPr id="5" name="Text 0"/>
          <p:cNvSpPr/>
          <p:nvPr>
            <p:ph idx="103" type="body" hasCustomPrompt="1"/>
          </p:nvPr>
        </p:nvSpPr>
        <p:spPr>
          <a:xfrm>
            <a:off x="731520" y="4572000"/>
            <a:ext cx="6583680" cy="1097280"/>
          </a:xfrm>
          <a:prstGeom prst="rect">
            <a:avLst/>
          </a:prstGeom>
          <a:noFill/>
          <a:ln/>
        </p:spPr>
        <p:txBody>
          <a:bodyPr wrap="square" lIns="0" tIns="0" rIns="0" bIns="0" rtlCol="0" anchor="t"/>
          <a:lstStyle/>
          <a:p>
            <a:pPr indent="0" marL="0">
              <a:spcAft>
                <a:spcPts val="400"/>
              </a:spcAft>
              <a:buNone/>
            </a:pPr>
            <a:r>
              <a:rPr lang="en-US" sz="1600" dirty="0">
                <a:solidFill>
                  <a:schemeClr val="accent5"/>
                </a:solidFill>
              </a:rPr>
              <a:t>Student: Nguyen Quang Trung</a:t>
            </a:r>
            <a:endParaRPr lang="en-US" sz="1600" dirty="0"/>
          </a:p>
          <a:p>
            <a:pPr indent="0" marL="0">
              <a:spcAft>
                <a:spcPts val="400"/>
              </a:spcAft>
              <a:buNone/>
            </a:pPr>
            <a:r>
              <a:rPr lang="en-US" sz="1600" dirty="0">
                <a:solidFill>
                  <a:schemeClr val="accent5"/>
                </a:solidFill>
              </a:rPr>
              <a:t>Student ID: 22011211</a:t>
            </a:r>
            <a:endParaRPr lang="en-US" sz="1600" dirty="0"/>
          </a:p>
          <a:p>
            <a:pPr indent="0" marL="0">
              <a:spcAft>
                <a:spcPts val="400"/>
              </a:spcAft>
              <a:buNone/>
            </a:pPr>
            <a:r>
              <a:rPr lang="en-US" sz="1600" dirty="0">
                <a:solidFill>
                  <a:schemeClr val="accent5"/>
                </a:solidFill>
              </a:rPr>
              <a:t>Hanoi, October 2026</a:t>
            </a:r>
            <a:endParaRPr lang="en-US" sz="1600" dirty="0"/>
          </a:p>
        </p:txBody>
      </p:sp>
      <p:sp>
        <p:nvSpPr>
          <p:cNvPr id="6" name="cover-card"/>
          <p:cNvSpPr/>
          <p:nvPr/>
        </p:nvSpPr>
        <p:spPr>
          <a:xfrm>
            <a:off x="7818120" y="960120"/>
            <a:ext cx="3840480" cy="4754880"/>
          </a:xfrm>
          <a:prstGeom prst="roundRect">
            <a:avLst>
              <a:gd name="adj" fmla="val 2857"/>
            </a:avLst>
          </a:prstGeom>
          <a:solidFill>
            <a:schemeClr val="bg1"/>
          </a:solidFill>
          <a:ln w="12700">
            <a:solidFill>
              <a:schemeClr val="bg1"/>
            </a:solidFill>
            <a:prstDash val="solid"/>
          </a:ln>
        </p:spPr>
      </p:sp>
      <p:pic>
        <p:nvPicPr>
          <p:cNvPr id="7" name="cover-route" descr="Route learned on map S4: the robot visits the booster cell, carries two parcels at once and delivers C, B, then A">    </p:cNvPr>
          <p:cNvPicPr>
            <a:picLocks noChangeAspect="1"/>
          </p:cNvPicPr>
          <p:nvPr/>
        </p:nvPicPr>
        <p:blipFill>
          <a:blip r:embed="rId1"/>
          <a:stretch>
            <a:fillRect/>
          </a:stretch>
        </p:blipFill>
        <p:spPr>
          <a:xfrm>
            <a:off x="8001000" y="1143000"/>
            <a:ext cx="3474720" cy="3474720"/>
          </a:xfrm>
          <a:prstGeom prst="rect">
            <a:avLst/>
          </a:prstGeom>
        </p:spPr>
      </p:pic>
      <p:sp>
        <p:nvSpPr>
          <p:cNvPr id="8" name="cover-caption"/>
          <p:cNvSpPr txBox="1"/>
          <p:nvPr/>
        </p:nvSpPr>
        <p:spPr>
          <a:xfrm>
            <a:off x="8001000" y="4754880"/>
            <a:ext cx="3474720" cy="731520"/>
          </a:xfrm>
          <a:prstGeom prst="rect">
            <a:avLst/>
          </a:prstGeom>
          <a:noFill/>
          <a:ln/>
        </p:spPr>
        <p:txBody>
          <a:bodyPr wrap="square" lIns="0" tIns="0" rIns="0" bIns="0" rtlCol="0" anchor="t"/>
          <a:lstStyle/>
          <a:p>
            <a:pPr indent="0" marL="0">
              <a:buNone/>
            </a:pPr>
            <a:r>
              <a:rPr lang="en-US" sz="1300" dirty="0">
                <a:solidFill>
                  <a:schemeClr val="tx2"/>
                </a:solidFill>
              </a:rPr>
              <a:t>Route learned on S4: 38 steps, return 22 (optimal)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task: deliver parcels in a learned order</a:t>
            </a:r>
            <a:endParaRPr lang="en-US" sz="3400" dirty="0"/>
          </a:p>
        </p:txBody>
      </p:sp>
      <p:sp>
        <p:nvSpPr>
          <p:cNvPr id="3" name="rules-card"/>
          <p:cNvSpPr/>
          <p:nvPr/>
        </p:nvSpPr>
        <p:spPr>
          <a:xfrm>
            <a:off x="548640" y="1325880"/>
            <a:ext cx="5394960" cy="4206240"/>
          </a:xfrm>
          <a:prstGeom prst="roundRect">
            <a:avLst>
              <a:gd name="adj" fmla="val 2609"/>
            </a:avLst>
          </a:prstGeom>
          <a:solidFill>
            <a:schemeClr val="bg2"/>
          </a:solidFill>
          <a:ln w="12700">
            <a:solidFill>
              <a:schemeClr val="bg2"/>
            </a:solidFill>
            <a:prstDash val="solid"/>
          </a:ln>
        </p:spPr>
      </p:sp>
      <p:sp>
        <p:nvSpPr>
          <p:cNvPr id="4" name="rules-head"/>
          <p:cNvSpPr txBox="1"/>
          <p:nvPr/>
        </p:nvSpPr>
        <p:spPr>
          <a:xfrm>
            <a:off x="868680" y="1600200"/>
            <a:ext cx="4754880" cy="457200"/>
          </a:xfrm>
          <a:prstGeom prst="rect">
            <a:avLst/>
          </a:prstGeom>
          <a:noFill/>
          <a:ln/>
        </p:spPr>
        <p:txBody>
          <a:bodyPr wrap="square" lIns="0" tIns="0" rIns="0" bIns="0" rtlCol="0" anchor="t"/>
          <a:lstStyle/>
          <a:p>
            <a:pPr indent="0" marL="0">
              <a:buNone/>
            </a:pPr>
            <a:r>
              <a:rPr lang="en-US" sz="2200" b="1" dirty="0">
                <a:solidFill>
                  <a:schemeClr val="tx1"/>
                </a:solidFill>
              </a:rPr>
              <a:t>Rules</a:t>
            </a:r>
            <a:endParaRPr lang="en-US" sz="2200" dirty="0"/>
          </a:p>
        </p:txBody>
      </p:sp>
      <p:sp>
        <p:nvSpPr>
          <p:cNvPr id="5" name="rules-list"/>
          <p:cNvSpPr txBox="1"/>
          <p:nvPr/>
        </p:nvSpPr>
        <p:spPr>
          <a:xfrm>
            <a:off x="868680" y="2240280"/>
            <a:ext cx="4754880" cy="310896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2"/>
                </a:solidFill>
              </a:rPr>
              <a:t>Grid of square cells with walls; the robot starts at cell S</a:t>
            </a:r>
            <a:endParaRPr lang="en-US" sz="1800" dirty="0"/>
          </a:p>
          <a:p>
            <a:pPr marL="342900" indent="-342900">
              <a:spcAft>
                <a:spcPts val="1600"/>
              </a:spcAft>
              <a:buSzPct val="100000"/>
              <a:buChar char="•"/>
            </a:pPr>
            <a:r>
              <a:rPr lang="en-US" sz="1800" dirty="0">
                <a:solidFill>
                  <a:schemeClr val="tx2"/>
                </a:solidFill>
              </a:rPr>
              <a:t>Each parcel has its own pickup cell and drop cell</a:t>
            </a:r>
            <a:endParaRPr lang="en-US" sz="1800" dirty="0"/>
          </a:p>
          <a:p>
            <a:pPr marL="342900" indent="-342900">
              <a:spcAft>
                <a:spcPts val="1600"/>
              </a:spcAft>
              <a:buSzPct val="100000"/>
              <a:buChar char="•"/>
            </a:pPr>
            <a:r>
              <a:rPr lang="en-US" sz="1800" dirty="0">
                <a:solidFill>
                  <a:schemeClr val="tx2"/>
                </a:solidFill>
              </a:rPr>
              <a:t>6 actions: Up, Down, Left, Right, Pickup, Drop</a:t>
            </a:r>
            <a:endParaRPr lang="en-US" sz="1800" dirty="0"/>
          </a:p>
          <a:p>
            <a:pPr marL="342900" indent="-342900">
              <a:spcAft>
                <a:spcPts val="1600"/>
              </a:spcAft>
              <a:buSzPct val="100000"/>
              <a:buChar char="•"/>
            </a:pPr>
            <a:r>
              <a:rPr lang="en-US" sz="1800" dirty="0">
                <a:solidFill>
                  <a:schemeClr val="tx2"/>
                </a:solidFill>
              </a:rPr>
              <a:t>Success: every parcel delivered; failure: max_steps runs out</a:t>
            </a:r>
            <a:endParaRPr lang="en-US" sz="1800" dirty="0"/>
          </a:p>
        </p:txBody>
      </p:sp>
      <p:sp>
        <p:nvSpPr>
          <p:cNvPr id="6" name="reward-card"/>
          <p:cNvSpPr/>
          <p:nvPr/>
        </p:nvSpPr>
        <p:spPr>
          <a:xfrm>
            <a:off x="6245352" y="1325880"/>
            <a:ext cx="5394960" cy="4206240"/>
          </a:xfrm>
          <a:prstGeom prst="roundRect">
            <a:avLst>
              <a:gd name="adj" fmla="val 2609"/>
            </a:avLst>
          </a:prstGeom>
          <a:solidFill>
            <a:schemeClr val="bg2"/>
          </a:solidFill>
          <a:ln w="12700">
            <a:solidFill>
              <a:schemeClr val="bg2"/>
            </a:solidFill>
            <a:prstDash val="solid"/>
          </a:ln>
        </p:spPr>
      </p:sp>
      <p:sp>
        <p:nvSpPr>
          <p:cNvPr id="7" name="reward-head"/>
          <p:cNvSpPr txBox="1"/>
          <p:nvPr/>
        </p:nvSpPr>
        <p:spPr>
          <a:xfrm>
            <a:off x="6565392" y="1600200"/>
            <a:ext cx="4754880" cy="457200"/>
          </a:xfrm>
          <a:prstGeom prst="rect">
            <a:avLst/>
          </a:prstGeom>
          <a:noFill/>
          <a:ln/>
        </p:spPr>
        <p:txBody>
          <a:bodyPr wrap="square" lIns="0" tIns="0" rIns="0" bIns="0" rtlCol="0" anchor="t"/>
          <a:lstStyle/>
          <a:p>
            <a:pPr indent="0" marL="0">
              <a:buNone/>
            </a:pPr>
            <a:r>
              <a:rPr lang="en-US" sz="2200" b="1" dirty="0">
                <a:solidFill>
                  <a:schemeClr val="tx1"/>
                </a:solidFill>
              </a:rPr>
              <a:t>Rewards</a:t>
            </a:r>
            <a:endParaRPr lang="en-US" sz="2200" dirty="0"/>
          </a:p>
        </p:txBody>
      </p:sp>
      <p:graphicFrame>
        <p:nvGraphicFramePr>
          <p:cNvPr id="3" name="reward-table"/>
          <p:cNvGraphicFramePr>
            <a:graphicFrameLocks noGrp="1"/>
          </p:cNvGraphicFramePr>
          <p:nvPr>
            <p:extLst>
              <p:ext uri="{D42A27DB-BD31-4B8C-83A1-F6EECF244321}">
                <p14:modId xmlns:p14="http://schemas.microsoft.com/office/powerpoint/2010/main" val="1579011935"/>
              </p:ext>
            </p:extLst>
          </p:nvPr>
        </p:nvGraphicFramePr>
        <p:xfrm>
          <a:off x="6565392" y="2240280"/>
          <a:ext cx="4754880" cy="914400"/>
        </p:xfrm>
        <a:graphic>
          <a:graphicData uri="http://schemas.openxmlformats.org/drawingml/2006/table">
            <a:tbl>
              <a:tblPr/>
              <a:tblGrid>
                <a:gridCol w="3566160"/>
                <a:gridCol w="1188720"/>
              </a:tblGrid>
              <a:tr h="502920">
                <a:tc>
                  <a:txBody>
                    <a:bodyPr/>
                    <a:lstStyle/>
                    <a:p>
                      <a:pPr algn="l" indent="0" marL="0">
                        <a:buNone/>
                      </a:pPr>
                      <a:r>
                        <a:rPr lang="en-US" sz="1700" b="1" dirty="0">
                          <a:solidFill>
                            <a:schemeClr val="tx1"/>
                          </a:solidFill>
                        </a:rPr>
                        <a:t>Event</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c>
                  <a:txBody>
                    <a:bodyPr/>
                    <a:lstStyle/>
                    <a:p>
                      <a:pPr algn="r" indent="0" marL="0">
                        <a:buNone/>
                      </a:pPr>
                      <a:r>
                        <a:rPr lang="en-US" sz="1700" b="1" dirty="0">
                          <a:solidFill>
                            <a:schemeClr val="tx1"/>
                          </a:solidFill>
                        </a:rPr>
                        <a:t>Reward</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2E8F1"/>
                    </a:solidFill>
                  </a:tcPr>
                </a:tc>
              </a:tr>
              <a:tr h="502920">
                <a:tc>
                  <a:txBody>
                    <a:bodyPr/>
                    <a:lstStyle/>
                    <a:p>
                      <a:pPr indent="0" marL="0">
                        <a:buNone/>
                      </a:pPr>
                      <a:r>
                        <a:rPr lang="en-US" sz="1700" dirty="0">
                          <a:solidFill>
                            <a:srgbClr val="3D4451"/>
                          </a:solidFill>
                        </a:rPr>
                        <a:t>Each step</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r" indent="0" marL="0">
                        <a:buNone/>
                      </a:pPr>
                      <a:r>
                        <a:rPr lang="en-US" sz="1700" b="1" dirty="0">
                          <a:solidFill>
                            <a:schemeClr val="tx1"/>
                          </a:solidFill>
                        </a:rPr>
                        <a:t>−1</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3D4451"/>
                          </a:solidFill>
                        </a:rPr>
                        <a:t>Correct delivery of one parcel</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r" indent="0" marL="0">
                        <a:buNone/>
                      </a:pPr>
                      <a:r>
                        <a:rPr lang="en-US" sz="1700" b="1" dirty="0">
                          <a:solidFill>
                            <a:schemeClr val="tx1"/>
                          </a:solidFill>
                        </a:rPr>
                        <a:t>+20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3D4451"/>
                          </a:solidFill>
                        </a:rPr>
                        <a:t>Wrong Pickup / Drop</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r" indent="0" marL="0">
                        <a:buNone/>
                      </a:pPr>
                      <a:r>
                        <a:rPr lang="en-US" sz="1700" b="1" dirty="0">
                          <a:solidFill>
                            <a:schemeClr val="tx1"/>
                          </a:solidFill>
                        </a:rPr>
                        <a:t>−10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700" dirty="0">
                          <a:solidFill>
                            <a:srgbClr val="3D4451"/>
                          </a:solidFill>
                        </a:rPr>
                        <a:t>Deadline parcel delivered late</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r" indent="0" marL="0">
                        <a:buNone/>
                      </a:pPr>
                      <a:r>
                        <a:rPr lang="en-US" sz="1700" b="1" dirty="0">
                          <a:solidFill>
                            <a:schemeClr val="tx1"/>
                          </a:solidFill>
                        </a:rPr>
                        <a:t>−30</a:t>
                      </a:r>
                      <a:endParaRPr lang="en-US" sz="1700" dirty="0"/>
                    </a:p>
                  </a:txBody>
                  <a:tcPr marL="109728" marR="109728" marT="0" marB="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9" name="reward-note"/>
          <p:cNvSpPr txBox="1"/>
          <p:nvPr/>
        </p:nvSpPr>
        <p:spPr>
          <a:xfrm>
            <a:off x="6565392" y="4892040"/>
            <a:ext cx="4754880" cy="457200"/>
          </a:xfrm>
          <a:prstGeom prst="rect">
            <a:avLst/>
          </a:prstGeom>
          <a:noFill/>
          <a:ln/>
        </p:spPr>
        <p:txBody>
          <a:bodyPr wrap="square" lIns="0" tIns="0" rIns="0" bIns="0" rtlCol="0" anchor="t"/>
          <a:lstStyle/>
          <a:p>
            <a:pPr indent="0" marL="0">
              <a:buNone/>
            </a:pPr>
            <a:r>
              <a:rPr lang="en-US" sz="1400" dirty="0">
                <a:solidFill>
                  <a:schemeClr val="accent6"/>
                </a:solidFill>
              </a:rPr>
              <a:t>The −30 penalty exists only in the deadline setting (S3).</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Four settings of increasing difficulty</a:t>
            </a:r>
            <a:endParaRPr lang="en-US" sz="3400" dirty="0"/>
          </a:p>
        </p:txBody>
      </p:sp>
      <p:pic>
        <p:nvPicPr>
          <p:cNvPr id="3" name="maps" descr="The four maps S1 to S4: pickup points are circles, drop points are squares, walls are dark, the booster cell is yellow">    </p:cNvPr>
          <p:cNvPicPr>
            <a:picLocks noChangeAspect="1"/>
          </p:cNvPicPr>
          <p:nvPr/>
        </p:nvPicPr>
        <p:blipFill>
          <a:blip r:embed="rId1"/>
          <a:stretch>
            <a:fillRect/>
          </a:stretch>
        </p:blipFill>
        <p:spPr>
          <a:xfrm>
            <a:off x="548640" y="1234440"/>
            <a:ext cx="11091672" cy="3540893"/>
          </a:xfrm>
          <a:prstGeom prst="rect">
            <a:avLst/>
          </a:prstGeom>
        </p:spPr>
      </p:pic>
      <p:sp>
        <p:nvSpPr>
          <p:cNvPr id="4" name="setting-S1"/>
          <p:cNvSpPr txBox="1"/>
          <p:nvPr/>
        </p:nvSpPr>
        <p:spPr>
          <a:xfrm>
            <a:off x="548640" y="5049653"/>
            <a:ext cx="2567178" cy="1005840"/>
          </a:xfrm>
          <a:prstGeom prst="rect">
            <a:avLst/>
          </a:prstGeom>
          <a:noFill/>
          <a:ln/>
        </p:spPr>
        <p:txBody>
          <a:bodyPr wrap="square" lIns="0" tIns="0" rIns="0" bIns="0" rtlCol="0" anchor="t"/>
          <a:lstStyle/>
          <a:p>
            <a:pPr indent="0" marL="0">
              <a:buNone/>
            </a:pPr>
            <a:r>
              <a:rPr lang="en-US" sz="1600" b="1" dirty="0">
                <a:solidFill>
                  <a:schemeClr val="tx1"/>
                </a:solidFill>
              </a:rPr>
              <a:t>S1</a:t>
            </a:r>
            <a:endParaRPr lang="en-US" sz="1600" dirty="0"/>
          </a:p>
          <a:p>
            <a:pPr indent="0" marL="0">
              <a:buNone/>
            </a:pPr>
            <a:r>
              <a:rPr lang="en-US" sz="1600" dirty="0">
                <a:solidFill>
                  <a:schemeClr val="tx2"/>
                </a:solidFill>
              </a:rPr>
              <a:t>2 parcels, carry 2</a:t>
            </a:r>
            <a:endParaRPr lang="en-US" sz="1600" dirty="0"/>
          </a:p>
          <a:p>
            <a:pPr indent="0" marL="0">
              <a:buNone/>
            </a:pPr>
            <a:r>
              <a:rPr lang="en-US" sz="1600" dirty="0">
                <a:solidFill>
                  <a:schemeClr val="accent6"/>
                </a:solidFill>
              </a:rPr>
              <a:t>optimal route: 22 steps</a:t>
            </a:r>
            <a:endParaRPr lang="en-US" sz="1600" dirty="0"/>
          </a:p>
        </p:txBody>
      </p:sp>
      <p:sp>
        <p:nvSpPr>
          <p:cNvPr id="5" name="setting-S2"/>
          <p:cNvSpPr txBox="1"/>
          <p:nvPr/>
        </p:nvSpPr>
        <p:spPr>
          <a:xfrm>
            <a:off x="3390138" y="5049653"/>
            <a:ext cx="2567178" cy="1005840"/>
          </a:xfrm>
          <a:prstGeom prst="rect">
            <a:avLst/>
          </a:prstGeom>
          <a:noFill/>
          <a:ln/>
        </p:spPr>
        <p:txBody>
          <a:bodyPr wrap="square" lIns="0" tIns="0" rIns="0" bIns="0" rtlCol="0" anchor="t"/>
          <a:lstStyle/>
          <a:p>
            <a:pPr indent="0" marL="0">
              <a:buNone/>
            </a:pPr>
            <a:r>
              <a:rPr lang="en-US" sz="1600" b="1" dirty="0">
                <a:solidFill>
                  <a:schemeClr val="tx1"/>
                </a:solidFill>
              </a:rPr>
              <a:t>S2</a:t>
            </a:r>
            <a:endParaRPr lang="en-US" sz="1600" dirty="0"/>
          </a:p>
          <a:p>
            <a:pPr indent="0" marL="0">
              <a:buNone/>
            </a:pPr>
            <a:r>
              <a:rPr lang="en-US" sz="1600" dirty="0">
                <a:solidFill>
                  <a:schemeClr val="tx2"/>
                </a:solidFill>
              </a:rPr>
              <a:t>3 parcels, carry 1</a:t>
            </a:r>
            <a:endParaRPr lang="en-US" sz="1600" dirty="0"/>
          </a:p>
          <a:p>
            <a:pPr indent="0" marL="0">
              <a:buNone/>
            </a:pPr>
            <a:r>
              <a:rPr lang="en-US" sz="1600" dirty="0">
                <a:solidFill>
                  <a:schemeClr val="accent6"/>
                </a:solidFill>
              </a:rPr>
              <a:t>optimal route: 31 steps</a:t>
            </a:r>
            <a:endParaRPr lang="en-US" sz="1600" dirty="0"/>
          </a:p>
        </p:txBody>
      </p:sp>
      <p:sp>
        <p:nvSpPr>
          <p:cNvPr id="6" name="setting-S3"/>
          <p:cNvSpPr txBox="1"/>
          <p:nvPr/>
        </p:nvSpPr>
        <p:spPr>
          <a:xfrm>
            <a:off x="6231636" y="5049653"/>
            <a:ext cx="2567178" cy="1005840"/>
          </a:xfrm>
          <a:prstGeom prst="rect">
            <a:avLst/>
          </a:prstGeom>
          <a:noFill/>
          <a:ln/>
        </p:spPr>
        <p:txBody>
          <a:bodyPr wrap="square" lIns="0" tIns="0" rIns="0" bIns="0" rtlCol="0" anchor="t"/>
          <a:lstStyle/>
          <a:p>
            <a:pPr indent="0" marL="0">
              <a:buNone/>
            </a:pPr>
            <a:r>
              <a:rPr lang="en-US" sz="1600" b="1" dirty="0">
                <a:solidFill>
                  <a:schemeClr val="tx1"/>
                </a:solidFill>
              </a:rPr>
              <a:t>S3</a:t>
            </a:r>
            <a:endParaRPr lang="en-US" sz="1600" dirty="0"/>
          </a:p>
          <a:p>
            <a:pPr indent="0" marL="0">
              <a:buNone/>
            </a:pPr>
            <a:r>
              <a:rPr lang="en-US" sz="1600" dirty="0">
                <a:solidFill>
                  <a:schemeClr val="tx2"/>
                </a:solidFill>
              </a:rPr>
              <a:t>deadline for C: 18 steps</a:t>
            </a:r>
            <a:endParaRPr lang="en-US" sz="1600" dirty="0"/>
          </a:p>
          <a:p>
            <a:pPr indent="0" marL="0">
              <a:buNone/>
            </a:pPr>
            <a:r>
              <a:rPr lang="en-US" sz="1600" dirty="0">
                <a:solidFill>
                  <a:schemeClr val="accent6"/>
                </a:solidFill>
              </a:rPr>
              <a:t>optimal route: 38 steps</a:t>
            </a:r>
            <a:endParaRPr lang="en-US" sz="1600" dirty="0"/>
          </a:p>
        </p:txBody>
      </p:sp>
      <p:sp>
        <p:nvSpPr>
          <p:cNvPr id="7" name="setting-S4"/>
          <p:cNvSpPr txBox="1"/>
          <p:nvPr/>
        </p:nvSpPr>
        <p:spPr>
          <a:xfrm>
            <a:off x="9073134" y="5049653"/>
            <a:ext cx="2567178" cy="1005840"/>
          </a:xfrm>
          <a:prstGeom prst="rect">
            <a:avLst/>
          </a:prstGeom>
          <a:noFill/>
          <a:ln/>
        </p:spPr>
        <p:txBody>
          <a:bodyPr wrap="square" lIns="0" tIns="0" rIns="0" bIns="0" rtlCol="0" anchor="t"/>
          <a:lstStyle/>
          <a:p>
            <a:pPr indent="0" marL="0">
              <a:buNone/>
            </a:pPr>
            <a:r>
              <a:rPr lang="en-US" sz="1600" b="1" dirty="0">
                <a:solidFill>
                  <a:schemeClr val="tx1"/>
                </a:solidFill>
              </a:rPr>
              <a:t>S4</a:t>
            </a:r>
            <a:endParaRPr lang="en-US" sz="1600" dirty="0"/>
          </a:p>
          <a:p>
            <a:pPr indent="0" marL="0">
              <a:buNone/>
            </a:pPr>
            <a:r>
              <a:rPr lang="en-US" sz="1600" dirty="0">
                <a:solidFill>
                  <a:schemeClr val="tx2"/>
                </a:solidFill>
              </a:rPr>
              <a:t>×2 booster cell</a:t>
            </a:r>
            <a:endParaRPr lang="en-US" sz="1600" dirty="0"/>
          </a:p>
          <a:p>
            <a:pPr indent="0" marL="0">
              <a:buNone/>
            </a:pPr>
            <a:r>
              <a:rPr lang="en-US" sz="1600" dirty="0">
                <a:solidFill>
                  <a:schemeClr val="accent6"/>
                </a:solidFill>
              </a:rPr>
              <a:t>optimal route: 38 steps</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State and its encoding</a:t>
            </a:r>
            <a:endParaRPr lang="en-US" sz="3400" dirty="0"/>
          </a:p>
        </p:txBody>
      </p:sp>
      <p:sp>
        <p:nvSpPr>
          <p:cNvPr id="3" name="state-box"/>
          <p:cNvSpPr/>
          <p:nvPr/>
        </p:nvSpPr>
        <p:spPr>
          <a:xfrm>
            <a:off x="548640" y="1325880"/>
            <a:ext cx="5394960" cy="731520"/>
          </a:xfrm>
          <a:prstGeom prst="roundRect">
            <a:avLst>
              <a:gd name="adj" fmla="val 15000"/>
            </a:avLst>
          </a:prstGeom>
          <a:solidFill>
            <a:schemeClr val="bg2"/>
          </a:solidFill>
          <a:ln w="12700">
            <a:solidFill>
              <a:schemeClr val="bg2"/>
            </a:solidFill>
            <a:prstDash val="solid"/>
          </a:ln>
        </p:spPr>
      </p:sp>
      <p:sp>
        <p:nvSpPr>
          <p:cNvPr id="4" name="state-tuple"/>
          <p:cNvSpPr txBox="1"/>
          <p:nvPr/>
        </p:nvSpPr>
        <p:spPr>
          <a:xfrm>
            <a:off x="822960" y="1325880"/>
            <a:ext cx="4937760" cy="731520"/>
          </a:xfrm>
          <a:prstGeom prst="rect">
            <a:avLst/>
          </a:prstGeom>
          <a:noFill/>
          <a:ln/>
        </p:spPr>
        <p:txBody>
          <a:bodyPr wrap="square" lIns="0" tIns="0" rIns="0" bIns="0" rtlCol="0" anchor="ctr"/>
          <a:lstStyle/>
          <a:p>
            <a:pPr indent="0" marL="0">
              <a:buNone/>
            </a:pPr>
            <a:r>
              <a:rPr lang="en-US" sz="2200" dirty="0">
                <a:solidFill>
                  <a:schemeClr val="tx1"/>
                </a:solidFill>
                <a:latin typeface="Cambria" pitchFamily="34" charset="0"/>
                <a:ea typeface="Cambria" pitchFamily="34" charset="-122"/>
                <a:cs typeface="Cambria" pitchFamily="34" charset="-120"/>
              </a:rPr>
              <a:t>s = (row, col, σ</a:t>
            </a:r>
            <a:pPr indent="0" marL="0">
              <a:buNone/>
            </a:pPr>
            <a:r>
              <a:rPr lang="en-US" sz="2200" baseline="-40000" dirty="0">
                <a:solidFill>
                  <a:schemeClr val="tx1"/>
                </a:solidFill>
                <a:latin typeface="Cambria" pitchFamily="34" charset="0"/>
                <a:ea typeface="Cambria" pitchFamily="34" charset="-122"/>
                <a:cs typeface="Cambria" pitchFamily="34" charset="-120"/>
              </a:rPr>
              <a:t>1</a:t>
            </a:r>
            <a:pPr indent="0" marL="0">
              <a:buNone/>
            </a:pPr>
            <a:r>
              <a:rPr lang="en-US" sz="2200" dirty="0">
                <a:solidFill>
                  <a:schemeClr val="tx1"/>
                </a:solidFill>
                <a:latin typeface="Cambria" pitchFamily="34" charset="0"/>
                <a:ea typeface="Cambria" pitchFamily="34" charset="-122"/>
                <a:cs typeface="Cambria" pitchFamily="34" charset="-120"/>
              </a:rPr>
              <a:t> … σ</a:t>
            </a:r>
            <a:pPr indent="0" marL="0">
              <a:buNone/>
            </a:pPr>
            <a:r>
              <a:rPr lang="en-US" sz="2200" baseline="-40000" dirty="0">
                <a:solidFill>
                  <a:schemeClr val="tx1"/>
                </a:solidFill>
                <a:latin typeface="Cambria" pitchFamily="34" charset="0"/>
                <a:ea typeface="Cambria" pitchFamily="34" charset="-122"/>
                <a:cs typeface="Cambria" pitchFamily="34" charset="-120"/>
              </a:rPr>
              <a:t>N</a:t>
            </a:r>
            <a:pPr indent="0" marL="0">
              <a:buNone/>
            </a:pPr>
            <a:r>
              <a:rPr lang="en-US" sz="2200" dirty="0">
                <a:solidFill>
                  <a:schemeClr val="tx1"/>
                </a:solidFill>
                <a:latin typeface="Cambria" pitchFamily="34" charset="0"/>
                <a:ea typeface="Cambria" pitchFamily="34" charset="-122"/>
                <a:cs typeface="Cambria" pitchFamily="34" charset="-120"/>
              </a:rPr>
              <a:t>, τ, b)</a:t>
            </a:r>
            <a:endParaRPr lang="en-US" sz="2200" dirty="0"/>
          </a:p>
        </p:txBody>
      </p:sp>
      <p:sp>
        <p:nvSpPr>
          <p:cNvPr id="5" name="state-list"/>
          <p:cNvSpPr txBox="1"/>
          <p:nvPr/>
        </p:nvSpPr>
        <p:spPr>
          <a:xfrm>
            <a:off x="548640" y="2286000"/>
            <a:ext cx="5394960" cy="14173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2"/>
                </a:solidFill>
              </a:rPr>
              <a:t>σ</a:t>
            </a:r>
            <a:pPr indent="0" marL="0">
              <a:buNone/>
            </a:pPr>
            <a:r>
              <a:rPr lang="en-US" sz="1700" baseline="-40000" dirty="0">
                <a:solidFill>
                  <a:schemeClr val="tx2"/>
                </a:solidFill>
              </a:rPr>
              <a:t>i</a:t>
            </a:r>
            <a:pPr indent="0" marL="0">
              <a:buNone/>
            </a:pPr>
            <a:r>
              <a:rPr lang="en-US" sz="1700" dirty="0">
                <a:solidFill>
                  <a:schemeClr val="tx2"/>
                </a:solidFill>
              </a:rPr>
              <a:t>: 0 not picked up · 1 carried · 2 delivered</a:t>
            </a:r>
            <a:endParaRPr lang="en-US" sz="1700" dirty="0"/>
          </a:p>
          <a:p>
            <a:pPr marL="342900" indent="-342900">
              <a:spcAft>
                <a:spcPts val="1000"/>
              </a:spcAft>
              <a:buSzPct val="100000"/>
              <a:buChar char="•"/>
            </a:pPr>
            <a:r>
              <a:rPr lang="en-US" sz="1700" dirty="0">
                <a:solidFill>
                  <a:schemeClr val="tx2"/>
                </a:solidFill>
              </a:rPr>
              <a:t>τ: deadline clock (S3) · b: booster status (S4)</a:t>
            </a:r>
            <a:endParaRPr lang="en-US" sz="1700" dirty="0"/>
          </a:p>
          <a:p>
            <a:pPr marL="342900" indent="-342900">
              <a:spcAft>
                <a:spcPts val="1000"/>
              </a:spcAft>
              <a:buSzPct val="100000"/>
              <a:buChar char="•"/>
            </a:pPr>
            <a:r>
              <a:rPr lang="en-US" sz="1700" dirty="0">
                <a:solidFill>
                  <a:schemeClr val="tx2"/>
                </a:solidFill>
              </a:rPr>
              <a:t>Without τ or b the state would not be Markov</a:t>
            </a:r>
            <a:endParaRPr lang="en-US" sz="1700" dirty="0"/>
          </a:p>
        </p:txBody>
      </p:sp>
      <p:sp>
        <p:nvSpPr>
          <p:cNvPr id="6" name="formula-box"/>
          <p:cNvSpPr/>
          <p:nvPr/>
        </p:nvSpPr>
        <p:spPr>
          <a:xfrm>
            <a:off x="548640" y="3886200"/>
            <a:ext cx="5394960" cy="1965960"/>
          </a:xfrm>
          <a:prstGeom prst="roundRect">
            <a:avLst>
              <a:gd name="adj" fmla="val 5581"/>
            </a:avLst>
          </a:prstGeom>
          <a:solidFill>
            <a:schemeClr val="bg2"/>
          </a:solidFill>
          <a:ln w="12700">
            <a:solidFill>
              <a:schemeClr val="bg2"/>
            </a:solidFill>
            <a:prstDash val="solid"/>
          </a:ln>
        </p:spPr>
      </p:sp>
      <p:sp>
        <p:nvSpPr>
          <p:cNvPr id="7" name="formulas"/>
          <p:cNvSpPr txBox="1"/>
          <p:nvPr/>
        </p:nvSpPr>
        <p:spPr>
          <a:xfrm>
            <a:off x="822960" y="3886200"/>
            <a:ext cx="4937760" cy="1965960"/>
          </a:xfrm>
          <a:prstGeom prst="rect">
            <a:avLst/>
          </a:prstGeom>
          <a:noFill/>
          <a:ln/>
        </p:spPr>
        <p:txBody>
          <a:bodyPr wrap="square" lIns="0" tIns="0" rIns="0" bIns="0" rtlCol="0" anchor="ctr"/>
          <a:lstStyle/>
          <a:p>
            <a:pPr indent="0" marL="0">
              <a:lnSpc>
                <a:spcPct val="130000"/>
              </a:lnSpc>
              <a:buNone/>
            </a:pPr>
            <a:r>
              <a:rPr lang="en-US" sz="1900" dirty="0">
                <a:solidFill>
                  <a:schemeClr val="tx1"/>
                </a:solidFill>
                <a:latin typeface="Cambria" pitchFamily="34" charset="0"/>
                <a:ea typeface="Cambria" pitchFamily="34" charset="-122"/>
                <a:cs typeface="Cambria" pitchFamily="34" charset="-120"/>
              </a:rPr>
              <a:t>code = Σ σ</a:t>
            </a:r>
            <a:pPr indent="0" marL="0">
              <a:lnSpc>
                <a:spcPct val="130000"/>
              </a:lnSpc>
              <a:buNone/>
            </a:pPr>
            <a:r>
              <a:rPr lang="en-US" sz="1900" baseline="-40000" dirty="0">
                <a:solidFill>
                  <a:schemeClr val="tx1"/>
                </a:solidFill>
                <a:latin typeface="Cambria" pitchFamily="34" charset="0"/>
                <a:ea typeface="Cambria" pitchFamily="34" charset="-122"/>
                <a:cs typeface="Cambria" pitchFamily="34" charset="-120"/>
              </a:rPr>
              <a:t>i</a:t>
            </a:r>
            <a:pPr indent="0" marL="0">
              <a:lnSpc>
                <a:spcPct val="130000"/>
              </a:lnSpc>
              <a:buNone/>
            </a:pPr>
            <a:r>
              <a:rPr lang="en-US" sz="1900" dirty="0">
                <a:solidFill>
                  <a:schemeClr val="tx1"/>
                </a:solidFill>
                <a:latin typeface="Cambria" pitchFamily="34" charset="0"/>
                <a:ea typeface="Cambria" pitchFamily="34" charset="-122"/>
                <a:cs typeface="Cambria" pitchFamily="34" charset="-120"/>
              </a:rPr>
              <a:t> · 3</a:t>
            </a:r>
            <a:pPr indent="0" marL="0">
              <a:lnSpc>
                <a:spcPct val="130000"/>
              </a:lnSpc>
              <a:buNone/>
            </a:pPr>
            <a:r>
              <a:rPr lang="en-US" sz="1900" baseline="30000" dirty="0">
                <a:solidFill>
                  <a:schemeClr val="tx1"/>
                </a:solidFill>
                <a:latin typeface="Cambria" pitchFamily="34" charset="0"/>
                <a:ea typeface="Cambria" pitchFamily="34" charset="-122"/>
                <a:cs typeface="Cambria" pitchFamily="34" charset="-120"/>
              </a:rPr>
              <a:t>i−1</a:t>
            </a:r>
            <a:pPr indent="0" marL="0">
              <a:lnSpc>
                <a:spcPct val="130000"/>
              </a:lnSpc>
              <a:buNone/>
            </a:pPr>
            <a:endParaRPr lang="en-US" sz="1900" dirty="0"/>
          </a:p>
          <a:p>
            <a:pPr indent="0" marL="0">
              <a:lnSpc>
                <a:spcPct val="130000"/>
              </a:lnSpc>
              <a:buNone/>
            </a:pPr>
            <a:r>
              <a:rPr lang="en-US" sz="1900" dirty="0">
                <a:solidFill>
                  <a:schemeClr val="tx1"/>
                </a:solidFill>
                <a:latin typeface="Cambria" pitchFamily="34" charset="0"/>
                <a:ea typeface="Cambria" pitchFamily="34" charset="-122"/>
                <a:cs typeface="Cambria" pitchFamily="34" charset="-120"/>
              </a:rPr>
              <a:t>idx = (((row·W + col)·3</a:t>
            </a:r>
            <a:pPr indent="0" marL="0">
              <a:lnSpc>
                <a:spcPct val="130000"/>
              </a:lnSpc>
              <a:buNone/>
            </a:pPr>
            <a:r>
              <a:rPr lang="en-US" sz="1900" baseline="30000" dirty="0">
                <a:solidFill>
                  <a:schemeClr val="tx1"/>
                </a:solidFill>
                <a:latin typeface="Cambria" pitchFamily="34" charset="0"/>
                <a:ea typeface="Cambria" pitchFamily="34" charset="-122"/>
                <a:cs typeface="Cambria" pitchFamily="34" charset="-120"/>
              </a:rPr>
              <a:t>N</a:t>
            </a:r>
            <a:pPr indent="0" marL="0">
              <a:lnSpc>
                <a:spcPct val="130000"/>
              </a:lnSpc>
              <a:buNone/>
            </a:pPr>
            <a:r>
              <a:rPr lang="en-US" sz="1900" dirty="0">
                <a:solidFill>
                  <a:schemeClr val="tx1"/>
                </a:solidFill>
                <a:latin typeface="Cambria" pitchFamily="34" charset="0"/>
                <a:ea typeface="Cambria" pitchFamily="34" charset="-122"/>
                <a:cs typeface="Cambria" pitchFamily="34" charset="-120"/>
              </a:rPr>
              <a:t> + code)·T + τ)·B + b</a:t>
            </a:r>
            <a:pPr indent="0" marL="0">
              <a:lnSpc>
                <a:spcPct val="130000"/>
              </a:lnSpc>
              <a:buNone/>
            </a:pPr>
            <a:endParaRPr lang="en-US" sz="1900" dirty="0"/>
          </a:p>
          <a:p>
            <a:pPr indent="0" marL="0">
              <a:lnSpc>
                <a:spcPct val="130000"/>
              </a:lnSpc>
              <a:buNone/>
            </a:pPr>
            <a:r>
              <a:rPr lang="en-US" sz="1900" dirty="0">
                <a:solidFill>
                  <a:schemeClr val="tx1"/>
                </a:solidFill>
                <a:latin typeface="Cambria" pitchFamily="34" charset="0"/>
                <a:ea typeface="Cambria" pitchFamily="34" charset="-122"/>
                <a:cs typeface="Cambria" pitchFamily="34" charset="-120"/>
              </a:rPr>
              <a:t>|S| = H·W·3</a:t>
            </a:r>
            <a:pPr indent="0" marL="0">
              <a:lnSpc>
                <a:spcPct val="130000"/>
              </a:lnSpc>
              <a:buNone/>
            </a:pPr>
            <a:r>
              <a:rPr lang="en-US" sz="1900" baseline="30000" dirty="0">
                <a:solidFill>
                  <a:schemeClr val="tx1"/>
                </a:solidFill>
                <a:latin typeface="Cambria" pitchFamily="34" charset="0"/>
                <a:ea typeface="Cambria" pitchFamily="34" charset="-122"/>
                <a:cs typeface="Cambria" pitchFamily="34" charset="-120"/>
              </a:rPr>
              <a:t>N</a:t>
            </a:r>
            <a:pPr indent="0" marL="0">
              <a:lnSpc>
                <a:spcPct val="130000"/>
              </a:lnSpc>
              <a:buNone/>
            </a:pPr>
            <a:r>
              <a:rPr lang="en-US" sz="1900" dirty="0">
                <a:solidFill>
                  <a:schemeClr val="tx1"/>
                </a:solidFill>
                <a:latin typeface="Cambria" pitchFamily="34" charset="0"/>
                <a:ea typeface="Cambria" pitchFamily="34" charset="-122"/>
                <a:cs typeface="Cambria" pitchFamily="34" charset="-120"/>
              </a:rPr>
              <a:t>·T·B</a:t>
            </a:r>
            <a:endParaRPr lang="en-US" sz="1900" dirty="0"/>
          </a:p>
        </p:txBody>
      </p:sp>
      <p:pic>
        <p:nvPicPr>
          <p:cNvPr id="8" name="state-space" descr="Log-scale bar chart of encoded and reachable state counts for S1 to S4">    </p:cNvPr>
          <p:cNvPicPr>
            <a:picLocks noChangeAspect="1"/>
          </p:cNvPicPr>
          <p:nvPr/>
        </p:nvPicPr>
        <p:blipFill>
          <a:blip r:embed="rId1"/>
          <a:stretch>
            <a:fillRect/>
          </a:stretch>
        </p:blipFill>
        <p:spPr>
          <a:xfrm>
            <a:off x="6263640" y="1325880"/>
            <a:ext cx="5376672" cy="3049701"/>
          </a:xfrm>
          <a:prstGeom prst="rect">
            <a:avLst/>
          </a:prstGeom>
        </p:spPr>
      </p:pic>
      <p:sp>
        <p:nvSpPr>
          <p:cNvPr id="9" name="state-caption"/>
          <p:cNvSpPr txBox="1"/>
          <p:nvPr/>
        </p:nvSpPr>
        <p:spPr>
          <a:xfrm>
            <a:off x="6263640" y="4604181"/>
            <a:ext cx="5376672" cy="822960"/>
          </a:xfrm>
          <a:prstGeom prst="rect">
            <a:avLst/>
          </a:prstGeom>
          <a:noFill/>
          <a:ln/>
        </p:spPr>
        <p:txBody>
          <a:bodyPr wrap="square" lIns="0" tIns="0" rIns="0" bIns="0" rtlCol="0" anchor="t"/>
          <a:lstStyle/>
          <a:p>
            <a:pPr indent="0" marL="0">
              <a:buNone/>
            </a:pPr>
            <a:r>
              <a:rPr lang="en-US" sz="1600" dirty="0">
                <a:solidFill>
                  <a:schemeClr val="tx2"/>
                </a:solidFill>
              </a:rPr>
              <a:t>|A| = 6 on every map. S3 is the largest: 18,468 encoded states, 2,825 reachable.</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Two tabular algorithms</a:t>
            </a:r>
            <a:endParaRPr lang="en-US" sz="3400" dirty="0"/>
          </a:p>
        </p:txBody>
      </p:sp>
      <p:sp>
        <p:nvSpPr>
          <p:cNvPr id="3" name="QL-card"/>
          <p:cNvSpPr/>
          <p:nvPr/>
        </p:nvSpPr>
        <p:spPr>
          <a:xfrm>
            <a:off x="548640" y="1325880"/>
            <a:ext cx="5394960" cy="3520440"/>
          </a:xfrm>
          <a:prstGeom prst="roundRect">
            <a:avLst>
              <a:gd name="adj" fmla="val 3117"/>
            </a:avLst>
          </a:prstGeom>
          <a:solidFill>
            <a:schemeClr val="bg2"/>
          </a:solidFill>
          <a:ln w="12700">
            <a:solidFill>
              <a:schemeClr val="bg2"/>
            </a:solidFill>
            <a:prstDash val="solid"/>
          </a:ln>
        </p:spPr>
      </p:sp>
      <p:sp>
        <p:nvSpPr>
          <p:cNvPr id="4" name="QL-badge"/>
          <p:cNvSpPr/>
          <p:nvPr/>
        </p:nvSpPr>
        <p:spPr>
          <a:xfrm>
            <a:off x="868680" y="1600200"/>
            <a:ext cx="566928" cy="566928"/>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400" b="1" dirty="0">
                <a:solidFill>
                  <a:schemeClr val="bg1"/>
                </a:solidFill>
              </a:rPr>
              <a:t>QL</a:t>
            </a:r>
            <a:endParaRPr lang="en-US" sz="1400" dirty="0"/>
          </a:p>
        </p:txBody>
      </p:sp>
      <p:sp>
        <p:nvSpPr>
          <p:cNvPr id="5" name="QL-head"/>
          <p:cNvSpPr txBox="1"/>
          <p:nvPr/>
        </p:nvSpPr>
        <p:spPr>
          <a:xfrm>
            <a:off x="1600200" y="1600200"/>
            <a:ext cx="4114800" cy="566928"/>
          </a:xfrm>
          <a:prstGeom prst="rect">
            <a:avLst/>
          </a:prstGeom>
          <a:noFill/>
          <a:ln/>
        </p:spPr>
        <p:txBody>
          <a:bodyPr wrap="square" lIns="0" tIns="0" rIns="0" bIns="0" rtlCol="0" anchor="ctr"/>
          <a:lstStyle/>
          <a:p>
            <a:pPr indent="0" marL="0">
              <a:buNone/>
            </a:pPr>
            <a:r>
              <a:rPr lang="en-US" sz="2200" b="1" dirty="0">
                <a:solidFill>
                  <a:schemeClr val="tx1"/>
                </a:solidFill>
              </a:rPr>
              <a:t>Q-learning</a:t>
            </a:r>
            <a:endParaRPr lang="en-US" sz="2200" dirty="0"/>
          </a:p>
        </p:txBody>
      </p:sp>
      <p:sp>
        <p:nvSpPr>
          <p:cNvPr id="6" name="QL-formula"/>
          <p:cNvSpPr txBox="1"/>
          <p:nvPr/>
        </p:nvSpPr>
        <p:spPr>
          <a:xfrm>
            <a:off x="868680" y="2423160"/>
            <a:ext cx="4846320" cy="914400"/>
          </a:xfrm>
          <a:prstGeom prst="rect">
            <a:avLst/>
          </a:prstGeom>
          <a:noFill/>
          <a:ln/>
        </p:spPr>
        <p:txBody>
          <a:bodyPr wrap="square" lIns="0" tIns="0" rIns="0" bIns="0" rtlCol="0" anchor="t"/>
          <a:lstStyle/>
          <a:p>
            <a:pPr indent="0" marL="0">
              <a:lnSpc>
                <a:spcPct val="120000"/>
              </a:lnSpc>
              <a:buNone/>
            </a:pPr>
            <a:r>
              <a:rPr lang="en-US" sz="1800" dirty="0">
                <a:solidFill>
                  <a:schemeClr val="tx1"/>
                </a:solidFill>
                <a:latin typeface="Cambria" pitchFamily="34" charset="0"/>
                <a:ea typeface="Cambria" pitchFamily="34" charset="-122"/>
                <a:cs typeface="Cambria" pitchFamily="34" charset="-120"/>
              </a:rPr>
              <a:t>Q(s,a) ← Q(s,a)</a:t>
            </a:r>
            <a:pPr indent="0" marL="0">
              <a:lnSpc>
                <a:spcPct val="120000"/>
              </a:lnSpc>
              <a:buNone/>
            </a:pPr>
            <a:endParaRPr lang="en-US" sz="1800" dirty="0"/>
          </a:p>
          <a:p>
            <a:pPr indent="0" marL="0">
              <a:lnSpc>
                <a:spcPct val="120000"/>
              </a:lnSpc>
              <a:buNone/>
            </a:pPr>
            <a:r>
              <a:rPr lang="en-US" sz="1800" dirty="0">
                <a:solidFill>
                  <a:schemeClr val="tx1"/>
                </a:solidFill>
                <a:latin typeface="Cambria" pitchFamily="34" charset="0"/>
                <a:ea typeface="Cambria" pitchFamily="34" charset="-122"/>
                <a:cs typeface="Cambria" pitchFamily="34" charset="-120"/>
              </a:rPr>
              <a:t>    + α [ r + γ max</a:t>
            </a:r>
            <a:pPr indent="0" marL="0">
              <a:lnSpc>
                <a:spcPct val="120000"/>
              </a:lnSpc>
              <a:buNone/>
            </a:pPr>
            <a:r>
              <a:rPr lang="en-US" sz="1800" baseline="-40000" dirty="0">
                <a:solidFill>
                  <a:schemeClr val="tx1"/>
                </a:solidFill>
                <a:latin typeface="Cambria" pitchFamily="34" charset="0"/>
                <a:ea typeface="Cambria" pitchFamily="34" charset="-122"/>
                <a:cs typeface="Cambria" pitchFamily="34" charset="-120"/>
              </a:rPr>
              <a:t>a′</a:t>
            </a:r>
            <a:pPr indent="0" marL="0">
              <a:lnSpc>
                <a:spcPct val="120000"/>
              </a:lnSpc>
              <a:buNone/>
            </a:pPr>
            <a:r>
              <a:rPr lang="en-US" sz="1800" dirty="0">
                <a:solidFill>
                  <a:schemeClr val="tx1"/>
                </a:solidFill>
                <a:latin typeface="Cambria" pitchFamily="34" charset="0"/>
                <a:ea typeface="Cambria" pitchFamily="34" charset="-122"/>
                <a:cs typeface="Cambria" pitchFamily="34" charset="-120"/>
              </a:rPr>
              <a:t> Q(s′,a′) − Q(s,a) ]</a:t>
            </a:r>
            <a:endParaRPr lang="en-US" sz="1800" dirty="0"/>
          </a:p>
        </p:txBody>
      </p:sp>
      <p:sp>
        <p:nvSpPr>
          <p:cNvPr id="7" name="QL-list"/>
          <p:cNvSpPr txBox="1"/>
          <p:nvPr/>
        </p:nvSpPr>
        <p:spPr>
          <a:xfrm>
            <a:off x="868680" y="3611880"/>
            <a:ext cx="4846320" cy="10972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2"/>
                </a:solidFill>
              </a:rPr>
              <a:t>Updates after every step (bootstrapping)</a:t>
            </a:r>
            <a:endParaRPr lang="en-US" sz="1700" dirty="0"/>
          </a:p>
          <a:p>
            <a:pPr marL="342900" indent="-342900">
              <a:spcAft>
                <a:spcPts val="1000"/>
              </a:spcAft>
              <a:buSzPct val="100000"/>
              <a:buChar char="•"/>
            </a:pPr>
            <a:r>
              <a:rPr lang="en-US" sz="1700" dirty="0">
                <a:solidFill>
                  <a:schemeClr val="tx2"/>
                </a:solidFill>
              </a:rPr>
              <a:t>α = 0.5; two variants: Q</a:t>
            </a:r>
            <a:pPr indent="0" marL="0">
              <a:buNone/>
            </a:pPr>
            <a:r>
              <a:rPr lang="en-US" sz="1700" baseline="-40000" dirty="0">
                <a:solidFill>
                  <a:schemeClr val="tx2"/>
                </a:solidFill>
              </a:rPr>
              <a:t>0</a:t>
            </a:r>
            <a:pPr indent="0" marL="0">
              <a:buNone/>
            </a:pPr>
            <a:r>
              <a:rPr lang="en-US" sz="1700" dirty="0">
                <a:solidFill>
                  <a:schemeClr val="tx2"/>
                </a:solidFill>
              </a:rPr>
              <a:t> = 0 and Q</a:t>
            </a:r>
            <a:pPr indent="0" marL="0">
              <a:buNone/>
            </a:pPr>
            <a:r>
              <a:rPr lang="en-US" sz="1700" baseline="-40000" dirty="0">
                <a:solidFill>
                  <a:schemeClr val="tx2"/>
                </a:solidFill>
              </a:rPr>
              <a:t>0</a:t>
            </a:r>
            <a:pPr indent="0" marL="0">
              <a:buNone/>
            </a:pPr>
            <a:r>
              <a:rPr lang="en-US" sz="1700" dirty="0">
                <a:solidFill>
                  <a:schemeClr val="tx2"/>
                </a:solidFill>
              </a:rPr>
              <a:t> = 30</a:t>
            </a:r>
            <a:endParaRPr lang="en-US" sz="1700" dirty="0"/>
          </a:p>
        </p:txBody>
      </p:sp>
      <p:sp>
        <p:nvSpPr>
          <p:cNvPr id="8" name="MC-card"/>
          <p:cNvSpPr/>
          <p:nvPr/>
        </p:nvSpPr>
        <p:spPr>
          <a:xfrm>
            <a:off x="6245352" y="1325880"/>
            <a:ext cx="5394960" cy="3520440"/>
          </a:xfrm>
          <a:prstGeom prst="roundRect">
            <a:avLst>
              <a:gd name="adj" fmla="val 3117"/>
            </a:avLst>
          </a:prstGeom>
          <a:solidFill>
            <a:schemeClr val="bg2"/>
          </a:solidFill>
          <a:ln w="12700">
            <a:solidFill>
              <a:schemeClr val="bg2"/>
            </a:solidFill>
            <a:prstDash val="solid"/>
          </a:ln>
        </p:spPr>
      </p:sp>
      <p:sp>
        <p:nvSpPr>
          <p:cNvPr id="9" name="MC-badge"/>
          <p:cNvSpPr/>
          <p:nvPr/>
        </p:nvSpPr>
        <p:spPr>
          <a:xfrm>
            <a:off x="6565392" y="1600200"/>
            <a:ext cx="566928" cy="56692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400" b="1" dirty="0">
                <a:solidFill>
                  <a:schemeClr val="bg1"/>
                </a:solidFill>
              </a:rPr>
              <a:t>MC</a:t>
            </a:r>
            <a:endParaRPr lang="en-US" sz="1400" dirty="0"/>
          </a:p>
        </p:txBody>
      </p:sp>
      <p:sp>
        <p:nvSpPr>
          <p:cNvPr id="10" name="MC-head"/>
          <p:cNvSpPr txBox="1"/>
          <p:nvPr/>
        </p:nvSpPr>
        <p:spPr>
          <a:xfrm>
            <a:off x="7296912" y="1600200"/>
            <a:ext cx="4114800" cy="566928"/>
          </a:xfrm>
          <a:prstGeom prst="rect">
            <a:avLst/>
          </a:prstGeom>
          <a:noFill/>
          <a:ln/>
        </p:spPr>
        <p:txBody>
          <a:bodyPr wrap="square" lIns="0" tIns="0" rIns="0" bIns="0" rtlCol="0" anchor="ctr"/>
          <a:lstStyle/>
          <a:p>
            <a:pPr indent="0" marL="0">
              <a:buNone/>
            </a:pPr>
            <a:r>
              <a:rPr lang="en-US" sz="2200" b="1" dirty="0">
                <a:solidFill>
                  <a:schemeClr val="tx1"/>
                </a:solidFill>
              </a:rPr>
              <a:t>First-visit Monte Carlo</a:t>
            </a:r>
            <a:endParaRPr lang="en-US" sz="2200" dirty="0"/>
          </a:p>
        </p:txBody>
      </p:sp>
      <p:sp>
        <p:nvSpPr>
          <p:cNvPr id="11" name="MC-formula"/>
          <p:cNvSpPr txBox="1"/>
          <p:nvPr/>
        </p:nvSpPr>
        <p:spPr>
          <a:xfrm>
            <a:off x="6565392" y="2423160"/>
            <a:ext cx="4846320" cy="914400"/>
          </a:xfrm>
          <a:prstGeom prst="rect">
            <a:avLst/>
          </a:prstGeom>
          <a:noFill/>
          <a:ln/>
        </p:spPr>
        <p:txBody>
          <a:bodyPr wrap="square" lIns="0" tIns="0" rIns="0" bIns="0" rtlCol="0" anchor="t"/>
          <a:lstStyle/>
          <a:p>
            <a:pPr indent="0" marL="0">
              <a:lnSpc>
                <a:spcPct val="120000"/>
              </a:lnSpc>
              <a:buNone/>
            </a:pPr>
            <a:r>
              <a:rPr lang="en-US" sz="1800" dirty="0">
                <a:solidFill>
                  <a:schemeClr val="tx1"/>
                </a:solidFill>
                <a:latin typeface="Cambria" pitchFamily="34" charset="0"/>
                <a:ea typeface="Cambria" pitchFamily="34" charset="-122"/>
                <a:cs typeface="Cambria" pitchFamily="34" charset="-120"/>
              </a:rPr>
              <a:t>G</a:t>
            </a:r>
            <a:pPr indent="0" marL="0">
              <a:lnSpc>
                <a:spcPct val="120000"/>
              </a:lnSpc>
              <a:buNone/>
            </a:pPr>
            <a:r>
              <a:rPr lang="en-US" sz="1800" baseline="-40000" dirty="0">
                <a:solidFill>
                  <a:schemeClr val="tx1"/>
                </a:solidFill>
                <a:latin typeface="Cambria" pitchFamily="34" charset="0"/>
                <a:ea typeface="Cambria" pitchFamily="34" charset="-122"/>
                <a:cs typeface="Cambria" pitchFamily="34" charset="-120"/>
              </a:rPr>
              <a:t>t</a:t>
            </a:r>
            <a:pPr indent="0" marL="0">
              <a:lnSpc>
                <a:spcPct val="120000"/>
              </a:lnSpc>
              <a:buNone/>
            </a:pPr>
            <a:r>
              <a:rPr lang="en-US" sz="1800" dirty="0">
                <a:solidFill>
                  <a:schemeClr val="tx1"/>
                </a:solidFill>
                <a:latin typeface="Cambria" pitchFamily="34" charset="0"/>
                <a:ea typeface="Cambria" pitchFamily="34" charset="-122"/>
                <a:cs typeface="Cambria" pitchFamily="34" charset="-120"/>
              </a:rPr>
              <a:t> = r</a:t>
            </a:r>
            <a:pPr indent="0" marL="0">
              <a:lnSpc>
                <a:spcPct val="120000"/>
              </a:lnSpc>
              <a:buNone/>
            </a:pPr>
            <a:r>
              <a:rPr lang="en-US" sz="1800" baseline="-40000" dirty="0">
                <a:solidFill>
                  <a:schemeClr val="tx1"/>
                </a:solidFill>
                <a:latin typeface="Cambria" pitchFamily="34" charset="0"/>
                <a:ea typeface="Cambria" pitchFamily="34" charset="-122"/>
                <a:cs typeface="Cambria" pitchFamily="34" charset="-120"/>
              </a:rPr>
              <a:t>t+1</a:t>
            </a:r>
            <a:pPr indent="0" marL="0">
              <a:lnSpc>
                <a:spcPct val="120000"/>
              </a:lnSpc>
              <a:buNone/>
            </a:pPr>
            <a:r>
              <a:rPr lang="en-US" sz="1800" dirty="0">
                <a:solidFill>
                  <a:schemeClr val="tx1"/>
                </a:solidFill>
                <a:latin typeface="Cambria" pitchFamily="34" charset="0"/>
                <a:ea typeface="Cambria" pitchFamily="34" charset="-122"/>
                <a:cs typeface="Cambria" pitchFamily="34" charset="-120"/>
              </a:rPr>
              <a:t> + γ G</a:t>
            </a:r>
            <a:pPr indent="0" marL="0">
              <a:lnSpc>
                <a:spcPct val="120000"/>
              </a:lnSpc>
              <a:buNone/>
            </a:pPr>
            <a:r>
              <a:rPr lang="en-US" sz="1800" baseline="-40000" dirty="0">
                <a:solidFill>
                  <a:schemeClr val="tx1"/>
                </a:solidFill>
                <a:latin typeface="Cambria" pitchFamily="34" charset="0"/>
                <a:ea typeface="Cambria" pitchFamily="34" charset="-122"/>
                <a:cs typeface="Cambria" pitchFamily="34" charset="-120"/>
              </a:rPr>
              <a:t>t+1</a:t>
            </a:r>
            <a:pPr indent="0" marL="0">
              <a:lnSpc>
                <a:spcPct val="120000"/>
              </a:lnSpc>
              <a:buNone/>
            </a:pPr>
            <a:endParaRPr lang="en-US" sz="1800" dirty="0"/>
          </a:p>
          <a:p>
            <a:pPr indent="0" marL="0">
              <a:lnSpc>
                <a:spcPct val="120000"/>
              </a:lnSpc>
              <a:buNone/>
            </a:pPr>
            <a:r>
              <a:rPr lang="en-US" sz="1800" dirty="0">
                <a:solidFill>
                  <a:schemeClr val="tx1"/>
                </a:solidFill>
                <a:latin typeface="Cambria" pitchFamily="34" charset="0"/>
                <a:ea typeface="Cambria" pitchFamily="34" charset="-122"/>
                <a:cs typeface="Cambria" pitchFamily="34" charset="-120"/>
              </a:rPr>
              <a:t>Q(s,a) ← Q(s,a) + [G</a:t>
            </a:r>
            <a:pPr indent="0" marL="0">
              <a:lnSpc>
                <a:spcPct val="120000"/>
              </a:lnSpc>
              <a:buNone/>
            </a:pPr>
            <a:r>
              <a:rPr lang="en-US" sz="1800" baseline="-40000" dirty="0">
                <a:solidFill>
                  <a:schemeClr val="tx1"/>
                </a:solidFill>
                <a:latin typeface="Cambria" pitchFamily="34" charset="0"/>
                <a:ea typeface="Cambria" pitchFamily="34" charset="-122"/>
                <a:cs typeface="Cambria" pitchFamily="34" charset="-120"/>
              </a:rPr>
              <a:t>t</a:t>
            </a:r>
            <a:pPr indent="0" marL="0">
              <a:lnSpc>
                <a:spcPct val="120000"/>
              </a:lnSpc>
              <a:buNone/>
            </a:pPr>
            <a:r>
              <a:rPr lang="en-US" sz="1800" dirty="0">
                <a:solidFill>
                  <a:schemeClr val="tx1"/>
                </a:solidFill>
                <a:latin typeface="Cambria" pitchFamily="34" charset="0"/>
                <a:ea typeface="Cambria" pitchFamily="34" charset="-122"/>
                <a:cs typeface="Cambria" pitchFamily="34" charset="-120"/>
              </a:rPr>
              <a:t> − Q(s,a)] / N(s,a)</a:t>
            </a:r>
            <a:endParaRPr lang="en-US" sz="1800" dirty="0"/>
          </a:p>
        </p:txBody>
      </p:sp>
      <p:sp>
        <p:nvSpPr>
          <p:cNvPr id="12" name="MC-list"/>
          <p:cNvSpPr txBox="1"/>
          <p:nvPr/>
        </p:nvSpPr>
        <p:spPr>
          <a:xfrm>
            <a:off x="6565392" y="3611880"/>
            <a:ext cx="4846320" cy="10972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2"/>
                </a:solidFill>
              </a:rPr>
              <a:t>Updates after the whole episode</a:t>
            </a:r>
            <a:endParaRPr lang="en-US" sz="1700" dirty="0"/>
          </a:p>
          <a:p>
            <a:pPr marL="342900" indent="-342900">
              <a:spcAft>
                <a:spcPts val="1000"/>
              </a:spcAft>
              <a:buSzPct val="100000"/>
              <a:buChar char="•"/>
            </a:pPr>
            <a:r>
              <a:rPr lang="en-US" sz="1700" dirty="0">
                <a:solidFill>
                  <a:schemeClr val="tx2"/>
                </a:solidFill>
              </a:rPr>
              <a:t>Extra run: 4× episodes, slower ε decay</a:t>
            </a:r>
            <a:endParaRPr lang="en-US" sz="1700" dirty="0"/>
          </a:p>
        </p:txBody>
      </p:sp>
      <p:sp>
        <p:nvSpPr>
          <p:cNvPr id="13" name="shared"/>
          <p:cNvSpPr txBox="1"/>
          <p:nvPr/>
        </p:nvSpPr>
        <p:spPr>
          <a:xfrm>
            <a:off x="548640" y="5166360"/>
            <a:ext cx="11091672" cy="457200"/>
          </a:xfrm>
          <a:prstGeom prst="rect">
            <a:avLst/>
          </a:prstGeom>
          <a:noFill/>
          <a:ln/>
        </p:spPr>
        <p:txBody>
          <a:bodyPr wrap="square" lIns="0" tIns="0" rIns="0" bIns="0" rtlCol="0" anchor="t"/>
          <a:lstStyle/>
          <a:p>
            <a:pPr indent="0" marL="0">
              <a:buNone/>
            </a:pPr>
            <a:r>
              <a:rPr lang="en-US" sz="1700" b="1" dirty="0">
                <a:solidFill>
                  <a:schemeClr val="tx1"/>
                </a:solidFill>
              </a:rPr>
              <a:t>Shared settings: </a:t>
            </a:r>
            <a:pPr indent="0" marL="0">
              <a:buNone/>
            </a:pPr>
            <a:r>
              <a:rPr lang="en-US" sz="1700" dirty="0">
                <a:solidFill>
                  <a:schemeClr val="tx2"/>
                </a:solidFill>
              </a:rPr>
              <a:t>ε-greedy 1.0 → 0.05 · γ = 0.99 · 5 seeds · evaluated by the greedy policy from S</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Learning curves: Q-learning reaches the optimum</a:t>
            </a:r>
            <a:endParaRPr lang="en-US" sz="3400" dirty="0"/>
          </a:p>
        </p:txBody>
      </p:sp>
      <p:pic>
        <p:nvPicPr>
          <p:cNvPr id="3" name="learning-curves" descr="Learning curves on the four maps: greedy policy return per episode for both Q-learning variants and Monte Carlo, 5 seeds">    </p:cNvPr>
          <p:cNvPicPr>
            <a:picLocks noChangeAspect="1"/>
          </p:cNvPicPr>
          <p:nvPr/>
        </p:nvPicPr>
        <p:blipFill>
          <a:blip r:embed="rId1"/>
          <a:stretch>
            <a:fillRect/>
          </a:stretch>
        </p:blipFill>
        <p:spPr>
          <a:xfrm>
            <a:off x="548640" y="1234440"/>
            <a:ext cx="7147331" cy="4937760"/>
          </a:xfrm>
          <a:prstGeom prst="rect">
            <a:avLst/>
          </a:prstGeom>
        </p:spPr>
      </p:pic>
      <p:sp>
        <p:nvSpPr>
          <p:cNvPr id="4" name="stat-s4-num"/>
          <p:cNvSpPr txBox="1"/>
          <p:nvPr/>
        </p:nvSpPr>
        <p:spPr>
          <a:xfrm>
            <a:off x="8092440" y="1417320"/>
            <a:ext cx="3547872" cy="685800"/>
          </a:xfrm>
          <a:prstGeom prst="rect">
            <a:avLst/>
          </a:prstGeom>
          <a:noFill/>
          <a:ln/>
        </p:spPr>
        <p:txBody>
          <a:bodyPr wrap="square" lIns="0" tIns="0" rIns="0" bIns="0" rtlCol="0" anchor="t"/>
          <a:lstStyle/>
          <a:p>
            <a:pPr indent="0" marL="0">
              <a:buNone/>
            </a:pPr>
            <a:r>
              <a:rPr lang="en-US" sz="4000" b="1" dirty="0">
                <a:solidFill>
                  <a:schemeClr val="accent1"/>
                </a:solidFill>
              </a:rPr>
              <a:t>~17,000</a:t>
            </a:r>
            <a:endParaRPr lang="en-US" sz="4000" dirty="0"/>
          </a:p>
        </p:txBody>
      </p:sp>
      <p:sp>
        <p:nvSpPr>
          <p:cNvPr id="5" name="stat-s4-label"/>
          <p:cNvSpPr txBox="1"/>
          <p:nvPr/>
        </p:nvSpPr>
        <p:spPr>
          <a:xfrm>
            <a:off x="8092440" y="2130552"/>
            <a:ext cx="3547872" cy="685800"/>
          </a:xfrm>
          <a:prstGeom prst="rect">
            <a:avLst/>
          </a:prstGeom>
          <a:noFill/>
          <a:ln/>
        </p:spPr>
        <p:txBody>
          <a:bodyPr wrap="square" lIns="0" tIns="0" rIns="0" bIns="0" rtlCol="0" anchor="t"/>
          <a:lstStyle/>
          <a:p>
            <a:pPr indent="0" marL="0">
              <a:buNone/>
            </a:pPr>
            <a:r>
              <a:rPr lang="en-US" sz="1500" dirty="0">
                <a:solidFill>
                  <a:schemeClr val="tx2"/>
                </a:solidFill>
              </a:rPr>
              <a:t>episodes for Q-learning (Q₀ = 30) to reach the optimum on S4</a:t>
            </a:r>
            <a:endParaRPr lang="en-US" sz="1500" dirty="0"/>
          </a:p>
        </p:txBody>
      </p:sp>
      <p:sp>
        <p:nvSpPr>
          <p:cNvPr id="6" name="stat-s3-num"/>
          <p:cNvSpPr txBox="1"/>
          <p:nvPr/>
        </p:nvSpPr>
        <p:spPr>
          <a:xfrm>
            <a:off x="8092440" y="2971800"/>
            <a:ext cx="3547872" cy="685800"/>
          </a:xfrm>
          <a:prstGeom prst="rect">
            <a:avLst/>
          </a:prstGeom>
          <a:noFill/>
          <a:ln/>
        </p:spPr>
        <p:txBody>
          <a:bodyPr wrap="square" lIns="0" tIns="0" rIns="0" bIns="0" rtlCol="0" anchor="t"/>
          <a:lstStyle/>
          <a:p>
            <a:pPr indent="0" marL="0">
              <a:buNone/>
            </a:pPr>
            <a:r>
              <a:rPr lang="en-US" sz="4000" b="1" dirty="0">
                <a:solidFill>
                  <a:schemeClr val="accent1"/>
                </a:solidFill>
              </a:rPr>
              <a:t>~75,000</a:t>
            </a:r>
            <a:endParaRPr lang="en-US" sz="4000" dirty="0"/>
          </a:p>
        </p:txBody>
      </p:sp>
      <p:sp>
        <p:nvSpPr>
          <p:cNvPr id="7" name="stat-s3-label"/>
          <p:cNvSpPr txBox="1"/>
          <p:nvPr/>
        </p:nvSpPr>
        <p:spPr>
          <a:xfrm>
            <a:off x="8092440" y="3685032"/>
            <a:ext cx="3547872" cy="685800"/>
          </a:xfrm>
          <a:prstGeom prst="rect">
            <a:avLst/>
          </a:prstGeom>
          <a:noFill/>
          <a:ln/>
        </p:spPr>
        <p:txBody>
          <a:bodyPr wrap="square" lIns="0" tIns="0" rIns="0" bIns="0" rtlCol="0" anchor="t"/>
          <a:lstStyle/>
          <a:p>
            <a:pPr indent="0" marL="0">
              <a:buNone/>
            </a:pPr>
            <a:r>
              <a:rPr lang="en-US" sz="1500" dirty="0">
                <a:solidFill>
                  <a:schemeClr val="tx2"/>
                </a:solidFill>
              </a:rPr>
              <a:t>episodes on S3, the hardest map because of the deadline</a:t>
            </a:r>
            <a:endParaRPr lang="en-US" sz="1500" dirty="0"/>
          </a:p>
        </p:txBody>
      </p:sp>
      <p:sp>
        <p:nvSpPr>
          <p:cNvPr id="8" name="stat-mc-num"/>
          <p:cNvSpPr txBox="1"/>
          <p:nvPr/>
        </p:nvSpPr>
        <p:spPr>
          <a:xfrm>
            <a:off x="8092440" y="4526280"/>
            <a:ext cx="3547872" cy="685800"/>
          </a:xfrm>
          <a:prstGeom prst="rect">
            <a:avLst/>
          </a:prstGeom>
          <a:noFill/>
          <a:ln/>
        </p:spPr>
        <p:txBody>
          <a:bodyPr wrap="square" lIns="0" tIns="0" rIns="0" bIns="0" rtlCol="0" anchor="t"/>
          <a:lstStyle/>
          <a:p>
            <a:pPr indent="0" marL="0">
              <a:buNone/>
            </a:pPr>
            <a:r>
              <a:rPr lang="en-US" sz="4000" b="1" dirty="0">
                <a:solidFill>
                  <a:schemeClr val="accent2"/>
                </a:solidFill>
              </a:rPr>
              <a:t>−200</a:t>
            </a:r>
            <a:endParaRPr lang="en-US" sz="4000" dirty="0"/>
          </a:p>
        </p:txBody>
      </p:sp>
      <p:sp>
        <p:nvSpPr>
          <p:cNvPr id="9" name="stat-mc-label"/>
          <p:cNvSpPr txBox="1"/>
          <p:nvPr/>
        </p:nvSpPr>
        <p:spPr>
          <a:xfrm>
            <a:off x="8092440" y="5239512"/>
            <a:ext cx="3547872" cy="685800"/>
          </a:xfrm>
          <a:prstGeom prst="rect">
            <a:avLst/>
          </a:prstGeom>
          <a:noFill/>
          <a:ln/>
        </p:spPr>
        <p:txBody>
          <a:bodyPr wrap="square" lIns="0" tIns="0" rIns="0" bIns="0" rtlCol="0" anchor="t"/>
          <a:lstStyle/>
          <a:p>
            <a:pPr indent="0" marL="0">
              <a:buNone/>
            </a:pPr>
            <a:r>
              <a:rPr lang="en-US" sz="1500" dirty="0">
                <a:solidFill>
                  <a:schemeClr val="tx2"/>
                </a:solidFill>
              </a:rPr>
              <a:t>Monte Carlo on S4: the policy loops until max_steps</a:t>
            </a:r>
            <a:endParaRPr lang="en-US" sz="15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Final results: Q-learning optimal in 20/20 runs</a:t>
            </a:r>
            <a:endParaRPr lang="en-US" sz="3400" dirty="0"/>
          </a:p>
        </p:txBody>
      </p:sp>
      <p:pic>
        <p:nvPicPr>
          <p:cNvPr id="3" name="final-returns" descr="Final return of every seed on the four maps for both Q-learning variants, Monte Carlo and Monte Carlo 4x, against the optimum">    </p:cNvPr>
          <p:cNvPicPr>
            <a:picLocks noChangeAspect="1"/>
          </p:cNvPicPr>
          <p:nvPr/>
        </p:nvPicPr>
        <p:blipFill>
          <a:blip r:embed="rId1"/>
          <a:stretch>
            <a:fillRect/>
          </a:stretch>
        </p:blipFill>
        <p:spPr>
          <a:xfrm>
            <a:off x="548640" y="1280160"/>
            <a:ext cx="11091672" cy="3509160"/>
          </a:xfrm>
          <a:prstGeom prst="rect">
            <a:avLst/>
          </a:prstGeom>
        </p:spPr>
      </p:pic>
      <p:sp>
        <p:nvSpPr>
          <p:cNvPr id="4" name="results-caption"/>
          <p:cNvSpPr txBox="1"/>
          <p:nvPr/>
        </p:nvSpPr>
        <p:spPr>
          <a:xfrm>
            <a:off x="548640" y="5063640"/>
            <a:ext cx="11091672" cy="822960"/>
          </a:xfrm>
          <a:prstGeom prst="rect">
            <a:avLst/>
          </a:prstGeom>
          <a:noFill/>
          <a:ln/>
        </p:spPr>
        <p:txBody>
          <a:bodyPr wrap="square" lIns="0" tIns="0" rIns="0" bIns="0" rtlCol="0" anchor="t"/>
          <a:lstStyle/>
          <a:p>
            <a:pPr indent="0" marL="0">
              <a:buNone/>
            </a:pPr>
            <a:r>
              <a:rPr lang="en-US" sz="1700" dirty="0">
                <a:solidFill>
                  <a:schemeClr val="tx2"/>
                </a:solidFill>
              </a:rPr>
              <a:t>Bar = mean of 5 seeds, dots = individual seeds, line = optimal. </a:t>
            </a:r>
            <a:pPr indent="0" marL="0">
              <a:buNone/>
            </a:pPr>
            <a:r>
              <a:rPr lang="en-US" sz="1700" b="1" dirty="0">
                <a:solidFill>
                  <a:schemeClr val="tx1"/>
                </a:solidFill>
              </a:rPr>
              <a:t>Monte Carlo delivers every parcel in only 12/20 runs; </a:t>
            </a:r>
            <a:pPr indent="0" marL="0">
              <a:buNone/>
            </a:pPr>
            <a:r>
              <a:rPr lang="en-US" sz="1700" dirty="0">
                <a:solidFill>
                  <a:schemeClr val="tx2"/>
                </a:solidFill>
              </a:rPr>
              <a:t>with 4× episodes it is optimal in 5/5 seeds on S1 but only 3/5 on S2.</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S4 policy: the agent finds the booster cell</a:t>
            </a:r>
            <a:endParaRPr lang="en-US" sz="3400" dirty="0"/>
          </a:p>
        </p:txBody>
      </p:sp>
      <p:pic>
        <p:nvPicPr>
          <p:cNvPr id="3" name="policy-s4" descr="S4 policy in 7 phases: grey arrows are the greedy action in each cell, the coloured line is the path actually taken">    </p:cNvPr>
          <p:cNvPicPr>
            <a:picLocks noChangeAspect="1"/>
          </p:cNvPicPr>
          <p:nvPr/>
        </p:nvPicPr>
        <p:blipFill>
          <a:blip r:embed="rId1"/>
          <a:stretch>
            <a:fillRect/>
          </a:stretch>
        </p:blipFill>
        <p:spPr>
          <a:xfrm>
            <a:off x="548640" y="1234440"/>
            <a:ext cx="7587948" cy="4937760"/>
          </a:xfrm>
          <a:prstGeom prst="rect">
            <a:avLst/>
          </a:prstGeom>
        </p:spPr>
      </p:pic>
      <p:sp>
        <p:nvSpPr>
          <p:cNvPr id="4" name="s4-steps"/>
          <p:cNvSpPr txBox="1"/>
          <p:nvPr/>
        </p:nvSpPr>
        <p:spPr>
          <a:xfrm>
            <a:off x="8412480" y="1417320"/>
            <a:ext cx="3227832" cy="356616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2"/>
                </a:solidFill>
              </a:rPr>
              <a:t>Go down to the ×2 cell: booster on</a:t>
            </a:r>
            <a:endParaRPr lang="en-US" sz="1600" dirty="0"/>
          </a:p>
          <a:p>
            <a:pPr marL="342900" indent="-342900">
              <a:spcAft>
                <a:spcPts val="1000"/>
              </a:spcAft>
              <a:buSzPct val="100000"/>
              <a:buFont typeface="+mj-lt"/>
              <a:buAutoNum type="arabicPeriod" startAt="1"/>
            </a:pPr>
            <a:r>
              <a:rPr lang="en-US" sz="1600" dirty="0">
                <a:solidFill>
                  <a:schemeClr val="tx2"/>
                </a:solidFill>
              </a:rPr>
              <a:t>Pick up C</a:t>
            </a:r>
            <a:endParaRPr lang="en-US" sz="1600" dirty="0"/>
          </a:p>
          <a:p>
            <a:pPr marL="342900" indent="-342900">
              <a:spcAft>
                <a:spcPts val="1000"/>
              </a:spcAft>
              <a:buSzPct val="100000"/>
              <a:buFont typeface="+mj-lt"/>
              <a:buAutoNum type="arabicPeriod" startAt="1"/>
            </a:pPr>
            <a:r>
              <a:rPr lang="en-US" sz="1600" dirty="0">
                <a:solidFill>
                  <a:schemeClr val="tx2"/>
                </a:solidFill>
              </a:rPr>
              <a:t>Pick up A on the top row: 2 parcels</a:t>
            </a:r>
            <a:endParaRPr lang="en-US" sz="1600" dirty="0"/>
          </a:p>
          <a:p>
            <a:pPr marL="342900" indent="-342900">
              <a:spcAft>
                <a:spcPts val="1000"/>
              </a:spcAft>
              <a:buSzPct val="100000"/>
              <a:buFont typeface="+mj-lt"/>
              <a:buAutoNum type="arabicPeriod" startAt="1"/>
            </a:pPr>
            <a:r>
              <a:rPr lang="en-US" sz="1600" dirty="0">
                <a:solidFill>
                  <a:schemeClr val="tx2"/>
                </a:solidFill>
              </a:rPr>
              <a:t>Deliver C on the way</a:t>
            </a:r>
            <a:endParaRPr lang="en-US" sz="1600" dirty="0"/>
          </a:p>
          <a:p>
            <a:pPr marL="342900" indent="-342900">
              <a:spcAft>
                <a:spcPts val="1000"/>
              </a:spcAft>
              <a:buSzPct val="100000"/>
              <a:buFont typeface="+mj-lt"/>
              <a:buAutoNum type="arabicPeriod" startAt="1"/>
            </a:pPr>
            <a:r>
              <a:rPr lang="en-US" sz="1600" dirty="0">
                <a:solidFill>
                  <a:schemeClr val="tx2"/>
                </a:solidFill>
              </a:rPr>
              <a:t>Still carrying A, so the trip continues: pick up B</a:t>
            </a:r>
            <a:endParaRPr lang="en-US" sz="1600" dirty="0"/>
          </a:p>
          <a:p>
            <a:pPr marL="342900" indent="-342900">
              <a:spcAft>
                <a:spcPts val="1000"/>
              </a:spcAft>
              <a:buSzPct val="100000"/>
              <a:buFont typeface="+mj-lt"/>
              <a:buAutoNum type="arabicPeriod" startAt="1"/>
            </a:pPr>
            <a:r>
              <a:rPr lang="en-US" sz="1600" dirty="0">
                <a:solidFill>
                  <a:schemeClr val="tx2"/>
                </a:solidFill>
              </a:rPr>
              <a:t>Go to the bottom corner, deliver B then A</a:t>
            </a:r>
            <a:endParaRPr lang="en-US" sz="1600" dirty="0"/>
          </a:p>
        </p:txBody>
      </p:sp>
      <p:sp>
        <p:nvSpPr>
          <p:cNvPr id="5" name="s4-result"/>
          <p:cNvSpPr txBox="1"/>
          <p:nvPr/>
        </p:nvSpPr>
        <p:spPr>
          <a:xfrm>
            <a:off x="8412480" y="4480560"/>
            <a:ext cx="3227832" cy="457200"/>
          </a:xfrm>
          <a:prstGeom prst="rect">
            <a:avLst/>
          </a:prstGeom>
          <a:noFill/>
          <a:ln/>
        </p:spPr>
        <p:txBody>
          <a:bodyPr wrap="square" lIns="0" tIns="0" rIns="0" bIns="0" rtlCol="0" anchor="t"/>
          <a:lstStyle/>
          <a:p>
            <a:pPr indent="0" marL="0">
              <a:buNone/>
            </a:pPr>
            <a:r>
              <a:rPr lang="en-US" sz="1800" b="1" dirty="0">
                <a:solidFill>
                  <a:schemeClr val="tx1"/>
                </a:solidFill>
              </a:rPr>
              <a:t>38 steps, return 22 = optimal</a:t>
            </a:r>
            <a:endParaRPr lang="en-US" sz="18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Why does Monte Carlo fail?</a:t>
            </a:r>
            <a:endParaRPr lang="en-US" sz="3400" dirty="0"/>
          </a:p>
        </p:txBody>
      </p:sp>
      <p:pic>
        <p:nvPicPr>
          <p:cNvPr id="3" name="episode-length" descr="Steps per training episode: Q-learning drops quickly, Monte Carlo more slowly and stays near 200 steps on S4">    </p:cNvPr>
          <p:cNvPicPr>
            <a:picLocks noChangeAspect="1"/>
          </p:cNvPicPr>
          <p:nvPr/>
        </p:nvPicPr>
        <p:blipFill>
          <a:blip r:embed="rId1"/>
          <a:stretch>
            <a:fillRect/>
          </a:stretch>
        </p:blipFill>
        <p:spPr>
          <a:xfrm>
            <a:off x="548640" y="1234440"/>
            <a:ext cx="7147331" cy="4937760"/>
          </a:xfrm>
          <a:prstGeom prst="rect">
            <a:avLst/>
          </a:prstGeom>
        </p:spPr>
      </p:pic>
      <p:sp>
        <p:nvSpPr>
          <p:cNvPr id="4" name="reason-1-badge"/>
          <p:cNvSpPr/>
          <p:nvPr/>
        </p:nvSpPr>
        <p:spPr>
          <a:xfrm>
            <a:off x="8092440" y="1371600"/>
            <a:ext cx="457200" cy="4572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reason-1-head"/>
          <p:cNvSpPr txBox="1"/>
          <p:nvPr/>
        </p:nvSpPr>
        <p:spPr>
          <a:xfrm>
            <a:off x="8732520" y="1371600"/>
            <a:ext cx="2907792" cy="457200"/>
          </a:xfrm>
          <a:prstGeom prst="rect">
            <a:avLst/>
          </a:prstGeom>
          <a:noFill/>
          <a:ln/>
        </p:spPr>
        <p:txBody>
          <a:bodyPr wrap="square" lIns="0" tIns="0" rIns="0" bIns="0" rtlCol="0" anchor="ctr"/>
          <a:lstStyle/>
          <a:p>
            <a:pPr indent="0" marL="0">
              <a:buNone/>
            </a:pPr>
            <a:r>
              <a:rPr lang="en-US" sz="1800" b="1" dirty="0">
                <a:solidFill>
                  <a:schemeClr val="tx1"/>
                </a:solidFill>
              </a:rPr>
              <a:t>No learning signal</a:t>
            </a:r>
            <a:endParaRPr lang="en-US" sz="1800" dirty="0"/>
          </a:p>
        </p:txBody>
      </p:sp>
      <p:sp>
        <p:nvSpPr>
          <p:cNvPr id="6" name="reason-1-text"/>
          <p:cNvSpPr txBox="1"/>
          <p:nvPr/>
        </p:nvSpPr>
        <p:spPr>
          <a:xfrm>
            <a:off x="8732520" y="1874520"/>
            <a:ext cx="2907792" cy="1005840"/>
          </a:xfrm>
          <a:prstGeom prst="rect">
            <a:avLst/>
          </a:prstGeom>
          <a:noFill/>
          <a:ln/>
        </p:spPr>
        <p:txBody>
          <a:bodyPr wrap="square" lIns="0" tIns="0" rIns="0" bIns="0" rtlCol="0" anchor="t"/>
          <a:lstStyle/>
          <a:p>
            <a:pPr indent="0" marL="0">
              <a:buNone/>
            </a:pPr>
            <a:r>
              <a:rPr lang="en-US" sz="1400" dirty="0">
                <a:solidFill>
                  <a:schemeClr val="tx2"/>
                </a:solidFill>
              </a:rPr>
              <a:t>A random walk rarely delivers all 3 parcels, so most returns are ≈ −max_steps (S4 stays near 200 steps)</a:t>
            </a:r>
            <a:endParaRPr lang="en-US" sz="1400" dirty="0"/>
          </a:p>
        </p:txBody>
      </p:sp>
      <p:sp>
        <p:nvSpPr>
          <p:cNvPr id="7" name="reason-2-badge"/>
          <p:cNvSpPr/>
          <p:nvPr/>
        </p:nvSpPr>
        <p:spPr>
          <a:xfrm>
            <a:off x="8092440" y="2971800"/>
            <a:ext cx="457200" cy="4572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reason-2-head"/>
          <p:cNvSpPr txBox="1"/>
          <p:nvPr/>
        </p:nvSpPr>
        <p:spPr>
          <a:xfrm>
            <a:off x="8732520" y="2971800"/>
            <a:ext cx="2907792" cy="457200"/>
          </a:xfrm>
          <a:prstGeom prst="rect">
            <a:avLst/>
          </a:prstGeom>
          <a:noFill/>
          <a:ln/>
        </p:spPr>
        <p:txBody>
          <a:bodyPr wrap="square" lIns="0" tIns="0" rIns="0" bIns="0" rtlCol="0" anchor="ctr"/>
          <a:lstStyle/>
          <a:p>
            <a:pPr indent="0" marL="0">
              <a:buNone/>
            </a:pPr>
            <a:r>
              <a:rPr lang="en-US" sz="1800" b="1" dirty="0">
                <a:solidFill>
                  <a:schemeClr val="tx1"/>
                </a:solidFill>
              </a:rPr>
              <a:t>Returns are too noisy</a:t>
            </a:r>
            <a:endParaRPr lang="en-US" sz="1800" dirty="0"/>
          </a:p>
        </p:txBody>
      </p:sp>
      <p:sp>
        <p:nvSpPr>
          <p:cNvPr id="9" name="reason-2-text"/>
          <p:cNvSpPr txBox="1"/>
          <p:nvPr/>
        </p:nvSpPr>
        <p:spPr>
          <a:xfrm>
            <a:off x="8732520" y="3474720"/>
            <a:ext cx="2907792" cy="1005840"/>
          </a:xfrm>
          <a:prstGeom prst="rect">
            <a:avLst/>
          </a:prstGeom>
          <a:noFill/>
          <a:ln/>
        </p:spPr>
        <p:txBody>
          <a:bodyPr wrap="square" lIns="0" tIns="0" rIns="0" bIns="0" rtlCol="0" anchor="t"/>
          <a:lstStyle/>
          <a:p>
            <a:pPr indent="0" marL="0">
              <a:buNone/>
            </a:pPr>
            <a:r>
              <a:rPr lang="en-US" sz="1400" dirty="0">
                <a:solidFill>
                  <a:schemeClr val="tx2"/>
                </a:solidFill>
              </a:rPr>
              <a:t>Bumping into a wall is only 1–2 points worse than the best action; the noise is larger, so the policy loops</a:t>
            </a:r>
            <a:endParaRPr lang="en-US" sz="1400" dirty="0"/>
          </a:p>
        </p:txBody>
      </p:sp>
      <p:sp>
        <p:nvSpPr>
          <p:cNvPr id="10" name="reason-3-badge"/>
          <p:cNvSpPr/>
          <p:nvPr/>
        </p:nvSpPr>
        <p:spPr>
          <a:xfrm>
            <a:off x="8092440" y="4572000"/>
            <a:ext cx="457200" cy="4572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reason-3-head"/>
          <p:cNvSpPr txBox="1"/>
          <p:nvPr/>
        </p:nvSpPr>
        <p:spPr>
          <a:xfrm>
            <a:off x="8732520" y="4572000"/>
            <a:ext cx="2907792" cy="457200"/>
          </a:xfrm>
          <a:prstGeom prst="rect">
            <a:avLst/>
          </a:prstGeom>
          <a:noFill/>
          <a:ln/>
        </p:spPr>
        <p:txBody>
          <a:bodyPr wrap="square" lIns="0" tIns="0" rIns="0" bIns="0" rtlCol="0" anchor="ctr"/>
          <a:lstStyle/>
          <a:p>
            <a:pPr indent="0" marL="0">
              <a:buNone/>
            </a:pPr>
            <a:r>
              <a:rPr lang="en-US" sz="1800" b="1" dirty="0">
                <a:solidFill>
                  <a:schemeClr val="tx1"/>
                </a:solidFill>
              </a:rPr>
              <a:t>1/N remembers the past</a:t>
            </a:r>
            <a:endParaRPr lang="en-US" sz="1800" dirty="0"/>
          </a:p>
        </p:txBody>
      </p:sp>
      <p:sp>
        <p:nvSpPr>
          <p:cNvPr id="12" name="reason-3-text"/>
          <p:cNvSpPr txBox="1"/>
          <p:nvPr/>
        </p:nvSpPr>
        <p:spPr>
          <a:xfrm>
            <a:off x="8732520" y="5074920"/>
            <a:ext cx="2907792" cy="1005840"/>
          </a:xfrm>
          <a:prstGeom prst="rect">
            <a:avLst/>
          </a:prstGeom>
          <a:noFill/>
          <a:ln/>
        </p:spPr>
        <p:txBody>
          <a:bodyPr wrap="square" lIns="0" tIns="0" rIns="0" bIns="0" rtlCol="0" anchor="t"/>
          <a:lstStyle/>
          <a:p>
            <a:pPr indent="0" marL="0">
              <a:buNone/>
            </a:pPr>
            <a:r>
              <a:rPr lang="en-US" sz="1400" dirty="0">
                <a:solidFill>
                  <a:schemeClr val="tx2"/>
                </a:solidFill>
              </a:rPr>
              <a:t>Returns from the early random phase drag Q down for a long time</a:t>
            </a:r>
            <a:endParaRPr lang="en-US" sz="14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Reward or deadline changes the delivery order</a:t>
            </a:r>
            <a:endParaRPr lang="en-US" sz="3400" dirty="0"/>
          </a:p>
        </p:txBody>
      </p:sp>
      <p:pic>
        <p:nvPicPr>
          <p:cNvPr id="3" name="reward-deadline" descr="S3 under three configurations: the base case delivers C first, late penalty 0 and deadline 35 both deliver A first">    </p:cNvPr>
          <p:cNvPicPr>
            <a:picLocks noChangeAspect="1"/>
          </p:cNvPicPr>
          <p:nvPr/>
        </p:nvPicPr>
        <p:blipFill>
          <a:blip r:embed="rId1"/>
          <a:stretch>
            <a:fillRect/>
          </a:stretch>
        </p:blipFill>
        <p:spPr>
          <a:xfrm>
            <a:off x="936991" y="1234440"/>
            <a:ext cx="10314971" cy="4160520"/>
          </a:xfrm>
          <a:prstGeom prst="rect">
            <a:avLst/>
          </a:prstGeom>
        </p:spPr>
      </p:pic>
      <p:sp>
        <p:nvSpPr>
          <p:cNvPr id="4" name="reward-caption"/>
          <p:cNvSpPr txBox="1"/>
          <p:nvPr/>
        </p:nvSpPr>
        <p:spPr>
          <a:xfrm>
            <a:off x="548640" y="5623560"/>
            <a:ext cx="11091672" cy="502920"/>
          </a:xfrm>
          <a:prstGeom prst="rect">
            <a:avLst/>
          </a:prstGeom>
          <a:noFill/>
          <a:ln/>
        </p:spPr>
        <p:txBody>
          <a:bodyPr wrap="square" lIns="0" tIns="0" rIns="0" bIns="0" rtlCol="0" anchor="t"/>
          <a:lstStyle/>
          <a:p>
            <a:pPr indent="0" marL="0">
              <a:buNone/>
            </a:pPr>
            <a:r>
              <a:rPr lang="en-US" sz="1700" dirty="0">
                <a:solidFill>
                  <a:schemeClr val="tx2"/>
                </a:solidFill>
              </a:rPr>
              <a:t>Late penalty 30 → 0 or deadline 18 → 35: </a:t>
            </a:r>
            <a:pPr indent="0" marL="0">
              <a:buNone/>
            </a:pPr>
            <a:r>
              <a:rPr lang="en-US" sz="1700" b="1" dirty="0">
                <a:solidFill>
                  <a:schemeClr val="tx1"/>
                </a:solidFill>
              </a:rPr>
              <a:t>C→B→A becomes A→B→C, 9 steps shorter</a:t>
            </a:r>
            <a:pPr indent="0" marL="0">
              <a:buNone/>
            </a:pPr>
            <a:r>
              <a:rPr lang="en-US" sz="1700" dirty="0">
                <a:solidFill>
                  <a:schemeClr val="tx2"/>
                </a:solidFill>
              </a:rPr>
              <a:t> (5/5 seeds, matching the optimum).</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The booster cell saves 8 steps</a:t>
            </a:r>
            <a:endParaRPr lang="en-US" sz="3400" dirty="0"/>
          </a:p>
        </p:txBody>
      </p:sp>
      <p:pic>
        <p:nvPicPr>
          <p:cNvPr id="3" name="env-booster" descr="S4 with the booster cell: 38 steps, order C B A; without the booster cell: 46 steps, order B C A">    </p:cNvPr>
          <p:cNvPicPr>
            <a:picLocks noChangeAspect="1"/>
          </p:cNvPicPr>
          <p:nvPr/>
        </p:nvPicPr>
        <p:blipFill>
          <a:blip r:embed="rId1"/>
          <a:stretch>
            <a:fillRect/>
          </a:stretch>
        </p:blipFill>
        <p:spPr>
          <a:xfrm>
            <a:off x="548640" y="1280160"/>
            <a:ext cx="8503920" cy="3706201"/>
          </a:xfrm>
          <a:prstGeom prst="rect">
            <a:avLst/>
          </a:prstGeom>
        </p:spPr>
      </p:pic>
      <p:sp>
        <p:nvSpPr>
          <p:cNvPr id="4" name="booster-caption"/>
          <p:cNvSpPr txBox="1"/>
          <p:nvPr/>
        </p:nvSpPr>
        <p:spPr>
          <a:xfrm>
            <a:off x="548640" y="5260681"/>
            <a:ext cx="8503920" cy="731520"/>
          </a:xfrm>
          <a:prstGeom prst="rect">
            <a:avLst/>
          </a:prstGeom>
          <a:noFill/>
          <a:ln/>
        </p:spPr>
        <p:txBody>
          <a:bodyPr wrap="square" lIns="0" tIns="0" rIns="0" bIns="0" rtlCol="0" anchor="t"/>
          <a:lstStyle/>
          <a:p>
            <a:pPr indent="0" marL="0">
              <a:buNone/>
            </a:pPr>
            <a:r>
              <a:rPr lang="en-US" sz="1700" dirty="0">
                <a:solidFill>
                  <a:schemeClr val="tx2"/>
                </a:solidFill>
              </a:rPr>
              <a:t>The agent accepts a 2-step detour to turn on the booster, then carries two parcels at once.</a:t>
            </a:r>
            <a:endParaRPr lang="en-US" sz="1700" dirty="0"/>
          </a:p>
        </p:txBody>
      </p:sp>
      <p:sp>
        <p:nvSpPr>
          <p:cNvPr id="5" name="stat-with-num"/>
          <p:cNvSpPr txBox="1"/>
          <p:nvPr/>
        </p:nvSpPr>
        <p:spPr>
          <a:xfrm>
            <a:off x="9235440" y="1737360"/>
            <a:ext cx="2404872" cy="685800"/>
          </a:xfrm>
          <a:prstGeom prst="rect">
            <a:avLst/>
          </a:prstGeom>
          <a:noFill/>
          <a:ln/>
        </p:spPr>
        <p:txBody>
          <a:bodyPr wrap="square" lIns="0" tIns="0" rIns="0" bIns="0" rtlCol="0" anchor="t"/>
          <a:lstStyle/>
          <a:p>
            <a:pPr indent="0" marL="0">
              <a:buNone/>
            </a:pPr>
            <a:r>
              <a:rPr lang="en-US" sz="4000" b="1" dirty="0">
                <a:solidFill>
                  <a:schemeClr val="accent1"/>
                </a:solidFill>
              </a:rPr>
              <a:t>38 steps</a:t>
            </a:r>
            <a:endParaRPr lang="en-US" sz="4000" dirty="0"/>
          </a:p>
        </p:txBody>
      </p:sp>
      <p:sp>
        <p:nvSpPr>
          <p:cNvPr id="6" name="stat-with-label"/>
          <p:cNvSpPr txBox="1"/>
          <p:nvPr/>
        </p:nvSpPr>
        <p:spPr>
          <a:xfrm>
            <a:off x="9235440" y="2450592"/>
            <a:ext cx="2404872" cy="685800"/>
          </a:xfrm>
          <a:prstGeom prst="rect">
            <a:avLst/>
          </a:prstGeom>
          <a:noFill/>
          <a:ln/>
        </p:spPr>
        <p:txBody>
          <a:bodyPr wrap="square" lIns="0" tIns="0" rIns="0" bIns="0" rtlCol="0" anchor="t"/>
          <a:lstStyle/>
          <a:p>
            <a:pPr indent="0" marL="0">
              <a:buNone/>
            </a:pPr>
            <a:r>
              <a:rPr lang="en-US" sz="1500" dirty="0">
                <a:solidFill>
                  <a:schemeClr val="tx2"/>
                </a:solidFill>
              </a:rPr>
              <a:t>with booster: C → B → A</a:t>
            </a:r>
            <a:endParaRPr lang="en-US" sz="1500" dirty="0"/>
          </a:p>
        </p:txBody>
      </p:sp>
      <p:sp>
        <p:nvSpPr>
          <p:cNvPr id="7" name="stat-without-num"/>
          <p:cNvSpPr txBox="1"/>
          <p:nvPr/>
        </p:nvSpPr>
        <p:spPr>
          <a:xfrm>
            <a:off x="9235440" y="3429000"/>
            <a:ext cx="2404872" cy="685800"/>
          </a:xfrm>
          <a:prstGeom prst="rect">
            <a:avLst/>
          </a:prstGeom>
          <a:noFill/>
          <a:ln/>
        </p:spPr>
        <p:txBody>
          <a:bodyPr wrap="square" lIns="0" tIns="0" rIns="0" bIns="0" rtlCol="0" anchor="t"/>
          <a:lstStyle/>
          <a:p>
            <a:pPr indent="0" marL="0">
              <a:buNone/>
            </a:pPr>
            <a:r>
              <a:rPr lang="en-US" sz="4000" b="1" dirty="0">
                <a:solidFill>
                  <a:schemeClr val="tx1"/>
                </a:solidFill>
              </a:rPr>
              <a:t>46 steps</a:t>
            </a:r>
            <a:endParaRPr lang="en-US" sz="4000" dirty="0"/>
          </a:p>
        </p:txBody>
      </p:sp>
      <p:sp>
        <p:nvSpPr>
          <p:cNvPr id="8" name="stat-without-label"/>
          <p:cNvSpPr txBox="1"/>
          <p:nvPr/>
        </p:nvSpPr>
        <p:spPr>
          <a:xfrm>
            <a:off x="9235440" y="4142232"/>
            <a:ext cx="2404872" cy="685800"/>
          </a:xfrm>
          <a:prstGeom prst="rect">
            <a:avLst/>
          </a:prstGeom>
          <a:noFill/>
          <a:ln/>
        </p:spPr>
        <p:txBody>
          <a:bodyPr wrap="square" lIns="0" tIns="0" rIns="0" bIns="0" rtlCol="0" anchor="t"/>
          <a:lstStyle/>
          <a:p>
            <a:pPr indent="0" marL="0">
              <a:buNone/>
            </a:pPr>
            <a:r>
              <a:rPr lang="en-US" sz="1500" dirty="0">
                <a:solidFill>
                  <a:schemeClr val="tx2"/>
                </a:solidFill>
              </a:rPr>
              <a:t>without booster: B → C → A</a:t>
            </a:r>
            <a:endParaRPr lang="en-US" sz="15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algn="l" indent="0" marL="0">
              <a:buNone/>
            </a:pPr>
            <a:r>
              <a:rPr lang="en-US" sz="3400" b="1" dirty="0">
                <a:solidFill>
                  <a:schemeClr val="tx1"/>
                </a:solidFill>
              </a:rPr>
              <a:t>Demo: one episode with the learned policy</a:t>
            </a:r>
            <a:endParaRPr lang="en-US" sz="3400" dirty="0"/>
          </a:p>
        </p:txBody>
      </p:sp>
      <p:pic>
        <p:nvPicPr>
          <p:cNvPr id="3" name="demo-gif" descr="Animation of the robot following the learned policy on S4 for 38 steps">    </p:cNvPr>
          <p:cNvPicPr>
            <a:picLocks noChangeAspect="1"/>
          </p:cNvPicPr>
          <p:nvPr/>
        </p:nvPicPr>
        <p:blipFill>
          <a:blip r:embed="rId1"/>
          <a:stretch>
            <a:fillRect/>
          </a:stretch>
        </p:blipFill>
        <p:spPr>
          <a:xfrm>
            <a:off x="548640" y="1234440"/>
            <a:ext cx="4508390" cy="4937760"/>
          </a:xfrm>
          <a:prstGeom prst="rect">
            <a:avLst/>
          </a:prstGeom>
        </p:spPr>
      </p:pic>
      <p:sp>
        <p:nvSpPr>
          <p:cNvPr id="4" name="code-box"/>
          <p:cNvSpPr/>
          <p:nvPr/>
        </p:nvSpPr>
        <p:spPr>
          <a:xfrm>
            <a:off x="5715000" y="1325880"/>
            <a:ext cx="5925312" cy="1920240"/>
          </a:xfrm>
          <a:prstGeom prst="roundRect">
            <a:avLst>
              <a:gd name="adj" fmla="val 5714"/>
            </a:avLst>
          </a:prstGeom>
          <a:solidFill>
            <a:schemeClr val="tx1"/>
          </a:solidFill>
          <a:ln w="12700">
            <a:solidFill>
              <a:schemeClr val="tx1"/>
            </a:solidFill>
            <a:prstDash val="solid"/>
          </a:ln>
        </p:spPr>
      </p:sp>
      <p:sp>
        <p:nvSpPr>
          <p:cNvPr id="5" name="code"/>
          <p:cNvSpPr txBox="1"/>
          <p:nvPr/>
        </p:nvSpPr>
        <p:spPr>
          <a:xfrm>
            <a:off x="6035040" y="1325880"/>
            <a:ext cx="5394960" cy="1920240"/>
          </a:xfrm>
          <a:prstGeom prst="rect">
            <a:avLst/>
          </a:prstGeom>
          <a:noFill/>
          <a:ln/>
        </p:spPr>
        <p:txBody>
          <a:bodyPr wrap="square" lIns="0" tIns="0" rIns="0" bIns="0" rtlCol="0" anchor="ctr"/>
          <a:lstStyle/>
          <a:p>
            <a:pPr indent="0" marL="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experiments.py</a:t>
            </a:r>
            <a:endParaRPr lang="en-US" sz="1700" dirty="0"/>
          </a:p>
          <a:p>
            <a:pPr indent="0" marL="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plots.py --lang en</a:t>
            </a:r>
            <a:endParaRPr lang="en-US" sz="1700" dirty="0"/>
          </a:p>
          <a:p>
            <a:pPr indent="0" marL="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demo.py</a:t>
            </a:r>
            <a:endParaRPr lang="en-US" sz="1700" dirty="0"/>
          </a:p>
          <a:p>
            <a:pPr indent="0" marL="0">
              <a:lnSpc>
                <a:spcPct val="115000"/>
              </a:lnSpc>
              <a:buNone/>
            </a:pPr>
            <a:r>
              <a:rPr lang="en-US" sz="1700" dirty="0">
                <a:solidFill>
                  <a:schemeClr val="bg1"/>
                </a:solidFill>
                <a:latin typeface="Courier New" pitchFamily="34" charset="0"/>
                <a:ea typeface="Courier New" pitchFamily="34" charset="-122"/>
                <a:cs typeface="Courier New" pitchFamily="34" charset="-120"/>
              </a:rPr>
              <a:t>python demo.py --gif --lang en</a:t>
            </a:r>
            <a:endParaRPr lang="en-US" sz="1700" dirty="0"/>
          </a:p>
        </p:txBody>
      </p:sp>
      <p:sp>
        <p:nvSpPr>
          <p:cNvPr id="6" name="demo-list"/>
          <p:cNvSpPr txBox="1"/>
          <p:nvPr/>
        </p:nvSpPr>
        <p:spPr>
          <a:xfrm>
            <a:off x="5715000" y="3520440"/>
            <a:ext cx="5925312" cy="23774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2"/>
                </a:solidFill>
              </a:rPr>
              <a:t>experiments.py: 5 seeds, about 22 minutes</a:t>
            </a:r>
            <a:endParaRPr lang="en-US" sz="1700" dirty="0"/>
          </a:p>
          <a:p>
            <a:pPr marL="342900" indent="-342900">
              <a:spcAft>
                <a:spcPts val="1000"/>
              </a:spcAft>
              <a:buSzPct val="100000"/>
              <a:buChar char="•"/>
            </a:pPr>
            <a:r>
              <a:rPr lang="en-US" sz="1700" dirty="0">
                <a:solidFill>
                  <a:schemeClr val="tx2"/>
                </a:solidFill>
              </a:rPr>
              <a:t>plots.py: 11 figures (English labels in figures_en/)</a:t>
            </a:r>
            <a:endParaRPr lang="en-US" sz="1700" dirty="0"/>
          </a:p>
          <a:p>
            <a:pPr marL="342900" indent="-342900">
              <a:spcAft>
                <a:spcPts val="1000"/>
              </a:spcAft>
              <a:buSzPct val="100000"/>
              <a:buChar char="•"/>
            </a:pPr>
            <a:r>
              <a:rPr lang="en-US" sz="1700" dirty="0">
                <a:solidFill>
                  <a:schemeClr val="tx2"/>
                </a:solidFill>
              </a:rPr>
              <a:t>demo.py: prints a text map after every step</a:t>
            </a:r>
            <a:endParaRPr lang="en-US" sz="1700" dirty="0"/>
          </a:p>
          <a:p>
            <a:pPr marL="342900" indent="-342900">
              <a:spcAft>
                <a:spcPts val="1000"/>
              </a:spcAft>
              <a:buSzPct val="100000"/>
              <a:buChar char="•"/>
            </a:pPr>
            <a:r>
              <a:rPr lang="en-US" sz="1700" dirty="0">
                <a:solidFill>
                  <a:schemeClr val="tx2"/>
                </a:solidFill>
              </a:rPr>
              <a:t>Symbols: @ robot · a/b/c waiting parcels · A/B/C drop cells · + booster cell</a:t>
            </a:r>
            <a:endParaRPr lang="en-US" sz="17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37B8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777240"/>
          </a:xfrm>
          <a:prstGeom prst="rect">
            <a:avLst/>
          </a:prstGeom>
          <a:noFill/>
          <a:ln/>
        </p:spPr>
        <p:txBody>
          <a:bodyPr wrap="square" lIns="0" tIns="0" rIns="0" bIns="0" rtlCol="0" anchor="ctr"/>
          <a:lstStyle/>
          <a:p>
            <a:pPr algn="l" indent="0" marL="0">
              <a:buNone/>
            </a:pPr>
            <a:r>
              <a:rPr lang="en-US" sz="3600" b="1" dirty="0">
                <a:solidFill>
                  <a:schemeClr val="bg1"/>
                </a:solidFill>
              </a:rPr>
              <a:t>Conclusion</a:t>
            </a:r>
            <a:endParaRPr lang="en-US" sz="3600" dirty="0"/>
          </a:p>
        </p:txBody>
      </p:sp>
      <p:sp>
        <p:nvSpPr>
          <p:cNvPr id="3" name="finding-1-badge"/>
          <p:cNvSpPr/>
          <p:nvPr/>
        </p:nvSpPr>
        <p:spPr>
          <a:xfrm>
            <a:off x="548640" y="1508760"/>
            <a:ext cx="502920" cy="502920"/>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4" name="finding-1-head"/>
          <p:cNvSpPr txBox="1"/>
          <p:nvPr/>
        </p:nvSpPr>
        <p:spPr>
          <a:xfrm>
            <a:off x="1280160" y="1508760"/>
            <a:ext cx="4663440" cy="502920"/>
          </a:xfrm>
          <a:prstGeom prst="rect">
            <a:avLst/>
          </a:prstGeom>
          <a:noFill/>
          <a:ln/>
        </p:spPr>
        <p:txBody>
          <a:bodyPr wrap="square" lIns="0" tIns="0" rIns="0" bIns="0" rtlCol="0" anchor="ctr"/>
          <a:lstStyle/>
          <a:p>
            <a:pPr indent="0" marL="0">
              <a:buNone/>
            </a:pPr>
            <a:r>
              <a:rPr lang="en-US" sz="2000" b="1" dirty="0">
                <a:solidFill>
                  <a:schemeClr val="bg1"/>
                </a:solidFill>
              </a:rPr>
              <a:t>Q-learning is strong enough</a:t>
            </a:r>
            <a:endParaRPr lang="en-US" sz="2000" dirty="0"/>
          </a:p>
        </p:txBody>
      </p:sp>
      <p:sp>
        <p:nvSpPr>
          <p:cNvPr id="5" name="finding-1-text"/>
          <p:cNvSpPr txBox="1"/>
          <p:nvPr/>
        </p:nvSpPr>
        <p:spPr>
          <a:xfrm>
            <a:off x="1280160" y="2103120"/>
            <a:ext cx="4663440" cy="914400"/>
          </a:xfrm>
          <a:prstGeom prst="rect">
            <a:avLst/>
          </a:prstGeom>
          <a:noFill/>
          <a:ln/>
        </p:spPr>
        <p:txBody>
          <a:bodyPr wrap="square" lIns="0" tIns="0" rIns="0" bIns="0" rtlCol="0" anchor="t"/>
          <a:lstStyle/>
          <a:p>
            <a:pPr indent="0" marL="0">
              <a:buNone/>
            </a:pPr>
            <a:r>
              <a:rPr lang="en-US" sz="1700" dirty="0">
                <a:solidFill>
                  <a:schemeClr val="bg2"/>
                </a:solidFill>
              </a:rPr>
              <a:t>Q</a:t>
            </a:r>
            <a:pPr indent="0" marL="0">
              <a:buNone/>
            </a:pPr>
            <a:r>
              <a:rPr lang="en-US" sz="1700" baseline="-40000" dirty="0">
                <a:solidFill>
                  <a:schemeClr val="bg2"/>
                </a:solidFill>
              </a:rPr>
              <a:t>0</a:t>
            </a:r>
            <a:pPr indent="0" marL="0">
              <a:buNone/>
            </a:pPr>
            <a:r>
              <a:rPr lang="en-US" sz="1700" dirty="0">
                <a:solidFill>
                  <a:schemeClr val="bg2"/>
                </a:solidFill>
              </a:rPr>
              <a:t> = 30 is optimal in 5/5 seeds on all 4 maps</a:t>
            </a:r>
            <a:endParaRPr lang="en-US" sz="1700" dirty="0"/>
          </a:p>
        </p:txBody>
      </p:sp>
      <p:sp>
        <p:nvSpPr>
          <p:cNvPr id="6" name="finding-2-badge"/>
          <p:cNvSpPr/>
          <p:nvPr/>
        </p:nvSpPr>
        <p:spPr>
          <a:xfrm>
            <a:off x="6245352" y="1508760"/>
            <a:ext cx="502920" cy="502920"/>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7" name="finding-2-head"/>
          <p:cNvSpPr txBox="1"/>
          <p:nvPr/>
        </p:nvSpPr>
        <p:spPr>
          <a:xfrm>
            <a:off x="6976872" y="1508760"/>
            <a:ext cx="4663440" cy="502920"/>
          </a:xfrm>
          <a:prstGeom prst="rect">
            <a:avLst/>
          </a:prstGeom>
          <a:noFill/>
          <a:ln/>
        </p:spPr>
        <p:txBody>
          <a:bodyPr wrap="square" lIns="0" tIns="0" rIns="0" bIns="0" rtlCol="0" anchor="ctr"/>
          <a:lstStyle/>
          <a:p>
            <a:pPr indent="0" marL="0">
              <a:buNone/>
            </a:pPr>
            <a:r>
              <a:rPr lang="en-US" sz="2000" b="1" dirty="0">
                <a:solidFill>
                  <a:schemeClr val="bg1"/>
                </a:solidFill>
              </a:rPr>
              <a:t>Exploration and episodes matter</a:t>
            </a:r>
            <a:endParaRPr lang="en-US" sz="2000" dirty="0"/>
          </a:p>
        </p:txBody>
      </p:sp>
      <p:sp>
        <p:nvSpPr>
          <p:cNvPr id="8" name="finding-2-text"/>
          <p:cNvSpPr txBox="1"/>
          <p:nvPr/>
        </p:nvSpPr>
        <p:spPr>
          <a:xfrm>
            <a:off x="6976872" y="2103120"/>
            <a:ext cx="4663440" cy="914400"/>
          </a:xfrm>
          <a:prstGeom prst="rect">
            <a:avLst/>
          </a:prstGeom>
          <a:noFill/>
          <a:ln/>
        </p:spPr>
        <p:txBody>
          <a:bodyPr wrap="square" lIns="0" tIns="0" rIns="0" bIns="0" rtlCol="0" anchor="t"/>
          <a:lstStyle/>
          <a:p>
            <a:pPr indent="0" marL="0">
              <a:buNone/>
            </a:pPr>
            <a:r>
              <a:rPr lang="en-US" sz="1700" dirty="0">
                <a:solidFill>
                  <a:schemeClr val="bg2"/>
                </a:solidFill>
              </a:rPr>
              <a:t>Q</a:t>
            </a:r>
            <a:pPr indent="0" marL="0">
              <a:buNone/>
            </a:pPr>
            <a:r>
              <a:rPr lang="en-US" sz="1700" baseline="-40000" dirty="0">
                <a:solidFill>
                  <a:schemeClr val="bg2"/>
                </a:solidFill>
              </a:rPr>
              <a:t>0</a:t>
            </a:r>
            <a:pPr indent="0" marL="0">
              <a:buNone/>
            </a:pPr>
            <a:r>
              <a:rPr lang="en-US" sz="1700" dirty="0">
                <a:solidFill>
                  <a:schemeClr val="bg2"/>
                </a:solidFill>
              </a:rPr>
              <a:t> = 0 gets stuck on worse routes; S3 needs ~75,000 episodes</a:t>
            </a:r>
            <a:endParaRPr lang="en-US" sz="1700" dirty="0"/>
          </a:p>
        </p:txBody>
      </p:sp>
      <p:sp>
        <p:nvSpPr>
          <p:cNvPr id="9" name="finding-3-badge"/>
          <p:cNvSpPr/>
          <p:nvPr/>
        </p:nvSpPr>
        <p:spPr>
          <a:xfrm>
            <a:off x="548640" y="3337560"/>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 name="finding-3-head"/>
          <p:cNvSpPr txBox="1"/>
          <p:nvPr/>
        </p:nvSpPr>
        <p:spPr>
          <a:xfrm>
            <a:off x="1280160" y="3337560"/>
            <a:ext cx="4663440" cy="502920"/>
          </a:xfrm>
          <a:prstGeom prst="rect">
            <a:avLst/>
          </a:prstGeom>
          <a:noFill/>
          <a:ln/>
        </p:spPr>
        <p:txBody>
          <a:bodyPr wrap="square" lIns="0" tIns="0" rIns="0" bIns="0" rtlCol="0" anchor="ctr"/>
          <a:lstStyle/>
          <a:p>
            <a:pPr indent="0" marL="0">
              <a:buNone/>
            </a:pPr>
            <a:r>
              <a:rPr lang="en-US" sz="2000" b="1" dirty="0">
                <a:solidFill>
                  <a:schemeClr val="bg1"/>
                </a:solidFill>
              </a:rPr>
              <a:t>Monte Carlo converges slowly</a:t>
            </a:r>
            <a:endParaRPr lang="en-US" sz="2000" dirty="0"/>
          </a:p>
        </p:txBody>
      </p:sp>
      <p:sp>
        <p:nvSpPr>
          <p:cNvPr id="11" name="finding-3-text"/>
          <p:cNvSpPr txBox="1"/>
          <p:nvPr/>
        </p:nvSpPr>
        <p:spPr>
          <a:xfrm>
            <a:off x="1280160" y="3931920"/>
            <a:ext cx="4663440" cy="914400"/>
          </a:xfrm>
          <a:prstGeom prst="rect">
            <a:avLst/>
          </a:prstGeom>
          <a:noFill/>
          <a:ln/>
        </p:spPr>
        <p:txBody>
          <a:bodyPr wrap="square" lIns="0" tIns="0" rIns="0" bIns="0" rtlCol="0" anchor="t"/>
          <a:lstStyle/>
          <a:p>
            <a:pPr indent="0" marL="0">
              <a:buNone/>
            </a:pPr>
            <a:r>
              <a:rPr lang="en-US" sz="1700" dirty="0">
                <a:solidFill>
                  <a:schemeClr val="bg2"/>
                </a:solidFill>
              </a:rPr>
              <a:t>All parcels delivered in only 12/20 runs, 0/5 on S4</a:t>
            </a:r>
            <a:endParaRPr lang="en-US" sz="1700" dirty="0"/>
          </a:p>
        </p:txBody>
      </p:sp>
      <p:sp>
        <p:nvSpPr>
          <p:cNvPr id="12" name="finding-4-badge"/>
          <p:cNvSpPr/>
          <p:nvPr/>
        </p:nvSpPr>
        <p:spPr>
          <a:xfrm>
            <a:off x="6245352" y="3337560"/>
            <a:ext cx="502920" cy="502920"/>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3" name="finding-4-head"/>
          <p:cNvSpPr txBox="1"/>
          <p:nvPr/>
        </p:nvSpPr>
        <p:spPr>
          <a:xfrm>
            <a:off x="6976872" y="3337560"/>
            <a:ext cx="4663440" cy="502920"/>
          </a:xfrm>
          <a:prstGeom prst="rect">
            <a:avLst/>
          </a:prstGeom>
          <a:noFill/>
          <a:ln/>
        </p:spPr>
        <p:txBody>
          <a:bodyPr wrap="square" lIns="0" tIns="0" rIns="0" bIns="0" rtlCol="0" anchor="ctr"/>
          <a:lstStyle/>
          <a:p>
            <a:pPr indent="0" marL="0">
              <a:buNone/>
            </a:pPr>
            <a:r>
              <a:rPr lang="en-US" sz="2000" b="1" dirty="0">
                <a:solidFill>
                  <a:schemeClr val="bg1"/>
                </a:solidFill>
              </a:rPr>
              <a:t>Rewards shape the order</a:t>
            </a:r>
            <a:endParaRPr lang="en-US" sz="2000" dirty="0"/>
          </a:p>
        </p:txBody>
      </p:sp>
      <p:sp>
        <p:nvSpPr>
          <p:cNvPr id="14" name="finding-4-text"/>
          <p:cNvSpPr txBox="1"/>
          <p:nvPr/>
        </p:nvSpPr>
        <p:spPr>
          <a:xfrm>
            <a:off x="6976872" y="3931920"/>
            <a:ext cx="4663440" cy="914400"/>
          </a:xfrm>
          <a:prstGeom prst="rect">
            <a:avLst/>
          </a:prstGeom>
          <a:noFill/>
          <a:ln/>
        </p:spPr>
        <p:txBody>
          <a:bodyPr wrap="square" lIns="0" tIns="0" rIns="0" bIns="0" rtlCol="0" anchor="t"/>
          <a:lstStyle/>
          <a:p>
            <a:pPr indent="0" marL="0">
              <a:buNone/>
            </a:pPr>
            <a:r>
              <a:rPr lang="en-US" sz="1700" dirty="0">
                <a:solidFill>
                  <a:schemeClr val="bg2"/>
                </a:solidFill>
              </a:rPr>
              <a:t>Late penalty, deadline and booster cell all change the delivery order</a:t>
            </a:r>
            <a:endParaRPr lang="en-US" sz="1700" dirty="0"/>
          </a:p>
        </p:txBody>
      </p:sp>
      <p:sp>
        <p:nvSpPr>
          <p:cNvPr id="15" name="limitations"/>
          <p:cNvSpPr txBox="1"/>
          <p:nvPr/>
        </p:nvSpPr>
        <p:spPr>
          <a:xfrm>
            <a:off x="548640" y="5349240"/>
            <a:ext cx="11091672" cy="640080"/>
          </a:xfrm>
          <a:prstGeom prst="rect">
            <a:avLst/>
          </a:prstGeom>
          <a:noFill/>
          <a:ln/>
        </p:spPr>
        <p:txBody>
          <a:bodyPr wrap="square" lIns="0" tIns="0" rIns="0" bIns="0" rtlCol="0" anchor="t"/>
          <a:lstStyle/>
          <a:p>
            <a:pPr indent="0" marL="0">
              <a:buNone/>
            </a:pPr>
            <a:r>
              <a:rPr lang="en-US" sz="1600" b="1" dirty="0">
                <a:solidFill>
                  <a:schemeClr val="bg1"/>
                </a:solidFill>
              </a:rPr>
              <a:t>Limitations: </a:t>
            </a:r>
            <a:pPr indent="0" marL="0">
              <a:buNone/>
            </a:pPr>
            <a:r>
              <a:rPr lang="en-US" sz="1600" dirty="0">
                <a:solidFill>
                  <a:schemeClr val="accent5"/>
                </a:solidFill>
              </a:rPr>
              <a:t>τ makes the state space grow with the deadline length; the Q table is relearned from scratch for every map.</a:t>
            </a:r>
            <a:endParaRPr lang="en-US" sz="1600" dirty="0"/>
          </a:p>
        </p:txBody>
      </p:sp>
      <p:sp>
        <p:nvSpPr>
          <p:cNvPr id="25" name="Slide Number Placeholder 0"/>
          <p:cNvSpPr>
            <a:spLocks noGrp="1"/>
          </p:cNvSpPr>
          <p:nvPr>
            <p:ph type="sldNum" sz="quarter" idx="4294967295"/>
          </p:nvPr>
        </p:nvSpPr>
        <p:spPr>
          <a:xfrm>
            <a:off x="1109167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8FB8EE"/>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Multi-Delivery Robot">
  <a:themeElements>
    <a:clrScheme name="Multi-Delivery Robot">
      <a:dk1>
        <a:srgbClr val="14213D"/>
      </a:dk1>
      <a:lt1>
        <a:srgbClr val="FFFFFF"/>
      </a:lt1>
      <a:dk2>
        <a:srgbClr val="3D4451"/>
      </a:dk2>
      <a:lt2>
        <a:srgbClr val="F1F4F9"/>
      </a:lt2>
      <a:accent1>
        <a:srgbClr val="2A78D6"/>
      </a:accent1>
      <a:accent2>
        <a:srgbClr val="EB6834"/>
      </a:accent2>
      <a:accent3>
        <a:srgbClr val="1BAF7A"/>
      </a:accent3>
      <a:accent4>
        <a:srgbClr val="EDA100"/>
      </a:accent4>
      <a:accent5>
        <a:srgbClr val="8FB8EE"/>
      </a:accent5>
      <a:accent6>
        <a:srgbClr val="737B89"/>
      </a:accent6>
      <a:hlink>
        <a:srgbClr val="1F5FAE"/>
      </a:hlink>
      <a:folHlink>
        <a:srgbClr val="6250D6"/>
      </a:folHlink>
    </a:clrScheme>
    <a:fontScheme name="Multi-Delivery Robo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Multi-Delivery Robot – Q-learning and Monte Carlo</dc:title>
  <dc:subject>PptxGenJS Presentation</dc:subject>
  <dc:creator>Nguyen Quang Trung</dc:creator>
  <cp:lastModifiedBy>Nguyen Quang Trung</cp:lastModifiedBy>
  <cp:revision>1</cp:revision>
  <dcterms:created xsi:type="dcterms:W3CDTF">2026-10-14T04:43:40Z</dcterms:created>
  <dcterms:modified xsi:type="dcterms:W3CDTF">2026-10-14T04:43:40Z</dcterms:modified>
</cp:coreProperties>
</file>